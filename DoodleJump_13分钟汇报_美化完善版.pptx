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28a4c6317480d" /><Relationship Type="http://schemas.openxmlformats.org/officeDocument/2006/relationships/extended-properties" Target="/docProps/app.xml" Id="R8a3e50332a094c37" /><Relationship Type="http://schemas.openxmlformats.org/officeDocument/2006/relationships/officeDocument" Target="/ppt/presentation.xml" Id="R4f118877006c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56c0c8273499e"/>
  </p:sldMasterIdLst>
  <p:notesMasterIdLst>
    <p:notesMasterId xmlns:r="http://schemas.openxmlformats.org/officeDocument/2006/relationships" r:id="R7a8e088941304d2e"/>
  </p:notesMasterIdLst>
  <p:sldIdLst>
    <p:sldId xmlns:r="http://schemas.openxmlformats.org/officeDocument/2006/relationships" id="256" r:id="Ra735231282e24e8e"/>
    <p:sldId xmlns:r="http://schemas.openxmlformats.org/officeDocument/2006/relationships" id="257" r:id="R1e9af0b78a974a7d"/>
    <p:sldId xmlns:r="http://schemas.openxmlformats.org/officeDocument/2006/relationships" id="258" r:id="Rd4457264a7174f9b"/>
    <p:sldId xmlns:r="http://schemas.openxmlformats.org/officeDocument/2006/relationships" id="259" r:id="Rd9819efe29cb4002"/>
    <p:sldId xmlns:r="http://schemas.openxmlformats.org/officeDocument/2006/relationships" id="260" r:id="R167bd74eb84441f0"/>
    <p:sldId xmlns:r="http://schemas.openxmlformats.org/officeDocument/2006/relationships" id="261" r:id="R61d86b8e1d8c415b"/>
    <p:sldId xmlns:r="http://schemas.openxmlformats.org/officeDocument/2006/relationships" id="262" r:id="R798a1189e01b4ded"/>
    <p:sldId xmlns:r="http://schemas.openxmlformats.org/officeDocument/2006/relationships" id="263" r:id="R4a3d2462067f4d66"/>
    <p:sldId xmlns:r="http://schemas.openxmlformats.org/officeDocument/2006/relationships" id="264" r:id="R92ecc897eadb4469"/>
    <p:sldId xmlns:r="http://schemas.openxmlformats.org/officeDocument/2006/relationships" id="265" r:id="R16d74f788bc944c8"/>
    <p:sldId xmlns:r="http://schemas.openxmlformats.org/officeDocument/2006/relationships" id="266" r:id="R2d96bb6399f64d8e"/>
    <p:sldId xmlns:r="http://schemas.openxmlformats.org/officeDocument/2006/relationships" id="267" r:id="Rc2a2c0f250e347e9"/>
    <p:sldId xmlns:r="http://schemas.openxmlformats.org/officeDocument/2006/relationships" id="268" r:id="R72090dd9ad6e4af6"/>
    <p:sldId xmlns:r="http://schemas.openxmlformats.org/officeDocument/2006/relationships" id="269" r:id="R6003d4086f0744fc"/>
    <p:sldId xmlns:r="http://schemas.openxmlformats.org/officeDocument/2006/relationships" id="270" r:id="R59cc5ff32b6e4cb6"/>
    <p:sldId xmlns:r="http://schemas.openxmlformats.org/officeDocument/2006/relationships" id="271" r:id="R962bc0c3bcb24ccc"/>
    <p:sldId xmlns:r="http://schemas.openxmlformats.org/officeDocument/2006/relationships" id="272" r:id="R4e1cb78c9fb34f86"/>
    <p:sldId xmlns:r="http://schemas.openxmlformats.org/officeDocument/2006/relationships" id="273" r:id="Re9be295dcf6e41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66f4d0e034657" /><Relationship Type="http://schemas.openxmlformats.org/officeDocument/2006/relationships/slideMaster" Target="/ppt/slideMasters/slideMaster1.xml" Id="Rb2556c0c8273499e" /><Relationship Type="http://schemas.openxmlformats.org/officeDocument/2006/relationships/notesMaster" Target="/ppt/notesMasters/notesMaster1.xml" Id="R7a8e088941304d2e" /><Relationship Type="http://schemas.openxmlformats.org/officeDocument/2006/relationships/presProps" Target="/ppt/presProps.xml" Id="R513d2b9ba5fb4414" /><Relationship Type="http://schemas.openxmlformats.org/officeDocument/2006/relationships/tableStyles" Target="/ppt/tableStyles.xml" Id="Rfb4c57675c084717" /><Relationship Type="http://schemas.openxmlformats.org/officeDocument/2006/relationships/slide" Target="/ppt/slides/slide1.xml" Id="Ra735231282e24e8e" /><Relationship Type="http://schemas.openxmlformats.org/officeDocument/2006/relationships/slide" Target="/ppt/slides/slide2.xml" Id="R1e9af0b78a974a7d" /><Relationship Type="http://schemas.openxmlformats.org/officeDocument/2006/relationships/slide" Target="/ppt/slides/slide3.xml" Id="Rd4457264a7174f9b" /><Relationship Type="http://schemas.openxmlformats.org/officeDocument/2006/relationships/slide" Target="/ppt/slides/slide4.xml" Id="Rd9819efe29cb4002" /><Relationship Type="http://schemas.openxmlformats.org/officeDocument/2006/relationships/slide" Target="/ppt/slides/slide5.xml" Id="R167bd74eb84441f0" /><Relationship Type="http://schemas.openxmlformats.org/officeDocument/2006/relationships/slide" Target="/ppt/slides/slide6.xml" Id="R61d86b8e1d8c415b" /><Relationship Type="http://schemas.openxmlformats.org/officeDocument/2006/relationships/slide" Target="/ppt/slides/slide7.xml" Id="R798a1189e01b4ded" /><Relationship Type="http://schemas.openxmlformats.org/officeDocument/2006/relationships/slide" Target="/ppt/slides/slide8.xml" Id="R4a3d2462067f4d66" /><Relationship Type="http://schemas.openxmlformats.org/officeDocument/2006/relationships/slide" Target="/ppt/slides/slide9.xml" Id="R92ecc897eadb4469" /><Relationship Type="http://schemas.openxmlformats.org/officeDocument/2006/relationships/slide" Target="/ppt/slides/slide10.xml" Id="R16d74f788bc944c8" /><Relationship Type="http://schemas.openxmlformats.org/officeDocument/2006/relationships/slide" Target="/ppt/slides/slide11.xml" Id="R2d96bb6399f64d8e" /><Relationship Type="http://schemas.openxmlformats.org/officeDocument/2006/relationships/slide" Target="/ppt/slides/slide12.xml" Id="Rc2a2c0f250e347e9" /><Relationship Type="http://schemas.openxmlformats.org/officeDocument/2006/relationships/slide" Target="/ppt/slides/slide13.xml" Id="R72090dd9ad6e4af6" /><Relationship Type="http://schemas.openxmlformats.org/officeDocument/2006/relationships/slide" Target="/ppt/slides/slide14.xml" Id="R6003d4086f0744fc" /><Relationship Type="http://schemas.openxmlformats.org/officeDocument/2006/relationships/slide" Target="/ppt/slides/slide15.xml" Id="R59cc5ff32b6e4cb6" /><Relationship Type="http://schemas.openxmlformats.org/officeDocument/2006/relationships/slide" Target="/ppt/slides/slide16.xml" Id="R962bc0c3bcb24ccc" /><Relationship Type="http://schemas.openxmlformats.org/officeDocument/2006/relationships/slide" Target="/ppt/slides/slide17.xml" Id="R4e1cb78c9fb34f86" /><Relationship Type="http://schemas.openxmlformats.org/officeDocument/2006/relationships/slide" Target="/ppt/slides/slide18.xml" Id="Re9be295dcf6e41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d33ec2cef147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8e317f8a6c46e4" /><Relationship Type="http://schemas.openxmlformats.org/officeDocument/2006/relationships/notesMaster" Target="/ppt/notesMasters/notesMaster1.xml" Id="R3f020da3eea340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4dc8aac2d94a81" /><Relationship Type="http://schemas.openxmlformats.org/officeDocument/2006/relationships/notesMaster" Target="/ppt/notesMasters/notesMaster1.xml" Id="Rb1f96c07a5134a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e06dda8f6a43a6" /><Relationship Type="http://schemas.openxmlformats.org/officeDocument/2006/relationships/notesMaster" Target="/ppt/notesMasters/notesMaster1.xml" Id="R2c71662b487a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21882ffb194d78" /><Relationship Type="http://schemas.openxmlformats.org/officeDocument/2006/relationships/notesMaster" Target="/ppt/notesMasters/notesMaster1.xml" Id="R78908913dc6449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0d356ac9cc449d" /><Relationship Type="http://schemas.openxmlformats.org/officeDocument/2006/relationships/notesMaster" Target="/ppt/notesMasters/notesMaster1.xml" Id="Ree436592f107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3f47d556b4d4c" /><Relationship Type="http://schemas.openxmlformats.org/officeDocument/2006/relationships/notesMaster" Target="/ppt/notesMasters/notesMaster1.xml" Id="R565ef101fac94b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93666c45b4251" /><Relationship Type="http://schemas.openxmlformats.org/officeDocument/2006/relationships/notesMaster" Target="/ppt/notesMasters/notesMaster1.xml" Id="R1e31ec34818d42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d47a7052654032" /><Relationship Type="http://schemas.openxmlformats.org/officeDocument/2006/relationships/notesMaster" Target="/ppt/notesMasters/notesMaster1.xml" Id="R238c0847dcde4a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5130da3c984ed5" /><Relationship Type="http://schemas.openxmlformats.org/officeDocument/2006/relationships/notesMaster" Target="/ppt/notesMasters/notesMaster1.xml" Id="R85f0bcdf8f4a4a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fe4565343f4deb" /><Relationship Type="http://schemas.openxmlformats.org/officeDocument/2006/relationships/notesMaster" Target="/ppt/notesMasters/notesMaster1.xml" Id="R551391b519c24f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15cb5e8d664c79" /><Relationship Type="http://schemas.openxmlformats.org/officeDocument/2006/relationships/notesMaster" Target="/ppt/notesMasters/notesMaster1.xml" Id="Rc417e4551fb84b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067475a4824866" /><Relationship Type="http://schemas.openxmlformats.org/officeDocument/2006/relationships/notesMaster" Target="/ppt/notesMasters/notesMaster1.xml" Id="R6640fcb0dd0449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000fe6a6354b0b" /><Relationship Type="http://schemas.openxmlformats.org/officeDocument/2006/relationships/notesMaster" Target="/ppt/notesMasters/notesMaster1.xml" Id="R6318d91858b047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eb963a0e634f28" /><Relationship Type="http://schemas.openxmlformats.org/officeDocument/2006/relationships/notesMaster" Target="/ppt/notesMasters/notesMaster1.xml" Id="Ra9f254571a494f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2ccdd7b5ae421d" /><Relationship Type="http://schemas.openxmlformats.org/officeDocument/2006/relationships/notesMaster" Target="/ppt/notesMasters/notesMaster1.xml" Id="R10e974e855e642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ac0f249e6b452d" /><Relationship Type="http://schemas.openxmlformats.org/officeDocument/2006/relationships/notesMaster" Target="/ppt/notesMasters/notesMaster1.xml" Id="Rc234dc1d17724d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a46000d8014e2f" /><Relationship Type="http://schemas.openxmlformats.org/officeDocument/2006/relationships/notesMaster" Target="/ppt/notesMasters/notesMaster1.xml" Id="R662939f51bf34c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358a97f2dc4fa9" /><Relationship Type="http://schemas.openxmlformats.org/officeDocument/2006/relationships/notesMaster" Target="/ppt/notesMasters/notesMaster1.xml" Id="R111baa1cf72d47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A，建议时长 25 秒。</a:t>
            </a:r>
          </a:p>
          <a:p xmlns:a="http://schemas.openxmlformats.org/drawingml/2006/main">
            <a:r>
              <a:t>大家好，我们用强化学习控制开源Doodle Jump。角色自动跳跃，网络学习左右移动。我们保留原版外观、物理和平台随机规则，比较DQN、Double DQN与PPO。这次展示原版接入、算法更新、独立测试，以及真实效果与局限。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A，建议时长 55 秒。</a:t>
            </a:r>
          </a:p>
          <a:p xmlns:a="http://schemas.openxmlformats.org/drawingml/2006/main">
            <a:r>
              <a:t>游戏的操作只有左、不动、右。角色踩到平台后自动起跳，网络每四个物理帧重新观察并选择动作。困难在于动作要影响未来下降时的落点：蓝色平台横向移动，白色平台使用后消失，弹簧延长飞行，横向越界会绕到另一侧，接近黑洞会死亡。随机平台没有保证安全路线。策略需要利用位置与速度判断下一次落脚，既没有BFS，也没有提前给出的目标平台。我们使用原图片和绘制函数，训练的是持续控制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  <a:p xmlns:a="http://schemas.openxmlformats.org/drawingml/2006/main">
            <a:r>
              <a:t>项目 env.py / bridge-core.js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A，建议时长 55 秒。</a:t>
            </a:r>
          </a:p>
          <a:p xmlns:a="http://schemas.openxmlformats.org/drawingml/2006/main">
            <a:r>
              <a:t>我们把完整上游仓库固定在同一提交，二十一个原文件的SHA256逐个一致。浏览器直接执行原JavaScript，不重新绘制角色、平台或地图。Python训练环境以这些未修改代码做逐帧数值对照。原碰撞顺序、升降重力、移动平台、易碎刷新和全宽随机布局都保留，顶部出生与固定三百阈值等特殊行为也没有顺手修复。外围只增加可控种子、动作、观测、奖励和时限接口。可控随机源保留原抽样公式及调用顺序，没有添加保证可解的安全平台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  <a:p xmlns:a="http://schemas.openxmlformats.org/drawingml/2006/main">
            <a:r>
              <a:t>项目 upstream_manifest.json / PROVENANCE.md /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A，建议时长 60 秒。</a:t>
            </a:r>
          </a:p>
          <a:p xmlns:a="http://schemas.openxmlformats.org/drawingml/2006/main">
            <a:r>
              <a:t>这里的维度就是向量中的标量数量。玩家五维包括位置、速度，以及当前上升位置与历史最高上升位置的差。最多二十个平台，每个十维，记录相对位置、宽度、移动速度、类型、弹簧与掩码。单黑洞再占四维，合计二百零九维。平台按纵向距离排序，不足补零。输入不含未来地图、随机数状态或目标动作，因此属于部分可观测问题的无记忆结构特征近似。两层一百二十八宽网络输出三个Q值或动作概率。奖励使用原版得分增量除以一百，减少量时间代价，死亡减一。原得分按滚屏处理的平台累计，不等于高度，二者分别评价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env.py:obs / agents.py</a:t>
            </a:r>
          </a:p>
          <a:p xmlns:a="http://schemas.openxmlformats.org/drawingml/2006/main">
            <a:r>
              <a:t>项目 EXPERIMENT_PROTOCOL.md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B，建议时长 55 秒。</a:t>
            </a:r>
          </a:p>
          <a:p xmlns:a="http://schemas.openxmlformats.org/drawingml/2006/main">
            <a:r>
              <a:t>DQN让在线网络估计三种动作的长期回报。每次交互保存状态、动作、奖励、下一状态和真实终止标记，再从经验回放随机抽取小批量。目标网络提供相对稳定的下一状态价值，并按固定间隔同步。TD目标是即时奖励加折扣后的最大下一价值，真实死亡关闭bootstrap，时间截断仍保留下一状态价值。在线网络选中动作的Q值与固定目标计算Huber损失。反向传播只更新在线网络，目标分支停止梯度。训练用epsilon探索，测试固定取最大Q值。这把长期回报学习落实为一次可计算的网络更新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项目 agents.py:dqn_update / train.py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B，建议时长 50 秒。</a:t>
            </a:r>
          </a:p>
          <a:p xmlns:a="http://schemas.openxmlformats.org/drawingml/2006/main">
            <a:r>
              <a:t>DQN在目标网络中同时选择最大动作和评估它，估计噪声经过最大值选择可能造成高估。Double DQN把这两步分开：在线网络选择下一动作，目标网络评估这个动作。公式给出实际TD目标，损失与反向传播仍使用上一页的方法。两个算法共用二百零九维输入、两层一百二十八、四万三千七百七十九参数，以及回放、奖励、探索计划和交互预算。因此主要对照是TD目标的差异。分离选动作与估值可以降低一类偏差，但不会保证每次游戏得分更高，后面会同时展示均值和训练种子变异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https://arxiv.org/abs/1509.06461</a:t>
            </a:r>
          </a:p>
          <a:p xmlns:a="http://schemas.openxmlformats.org/drawingml/2006/main">
            <a:r>
              <a:t>项目 agents.py:td_target / models/*/config.json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B，建议时长 50 秒。</a:t>
            </a:r>
          </a:p>
          <a:p xmlns:a="http://schemas.openxmlformats.org/drawingml/2006/main">
            <a:r>
              <a:t>三种算法分别使用四十二、五十九、一百四十三三个独立训练种子，每次完成一百万环境决策。PPO速度消融另训练三次，总计十二次、一千二百万决策。训练地图和验证、测试地图互不重叠。每约五万决策在二十张固定验证图上选检查点，冻结后评测三个窗口各一百张保留图。主比较统一argmax，PPO概率采样另列。相同交互预算不代表更新次数或计算量相同。小网络计时CPU较快，所以正式实验用CPU三进程。报告的标准差来自三个训练种子的均分，不把三百张地图误当作三百次独立训练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experiments/native_retrain_20261008/protocol.json</a:t>
            </a:r>
          </a:p>
          <a:p xmlns:a="http://schemas.openxmlformats.org/drawingml/2006/main">
            <a:r>
              <a:t>项目 results/native_v2/test_episodes.csv</a:t>
            </a:r>
          </a:p>
          <a:p xmlns:a="http://schemas.openxmlformats.org/drawingml/2006/main">
            <a:r>
              <a:t>项目 experiments中的设备计时记录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B，建议时长 40 秒。</a:t>
            </a:r>
          </a:p>
          <a:p xmlns:a="http://schemas.openxmlformats.org/drawingml/2006/main">
            <a:r>
              <a:t>这里每条浅线是一份独立训练，每条粗线是三个种子的平均。三个图使用相同纵轴尺度，横轴是累计决策数，每十万展示一个验证点。曲线来自二十张固定验证地图，不是保留测试成绩。DQN和Double DQN在本预算中提高较多，PPO较低，且曲线存在波动。每份训练都完成了一百万步，部署权重按验证分数选择，可能不是最后检查点。不能只看均值线忽略不同训练种子的差异。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models/native_v2_*/curve.json</a:t>
            </a:r>
          </a:p>
          <a:p xmlns:a="http://schemas.openxmlformats.org/drawingml/2006/main">
            <a:r>
              <a:t>项目 EXPERIMENT_PROTOCOL.md（验证划分与检查点选择）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C，建议时长 65 秒。</a:t>
            </a:r>
          </a:p>
          <a:p xmlns:a="http://schemas.openxmlformats.org/drawingml/2006/main">
            <a:r>
              <a:t>PPO直接学习动作分布，Actor给出三个概率，Critic估计状态价值。GAE把多步TD残差组合成优势，描述动作相对当前估计是否更好。当前策略采样后，概率比裁剪限制更新过大。实际代码最小化的总损失是策略损失，加零点五乘价值损失，再减零点零一乘熵。价值损失本身还含二分之一，并使用旧价值的裁剪项，不能把系数混为一个。反向传播更新共享骨干、策略头和价值头，旧概率与优势保持固定。PPO每批一千零二十四步，做四轮更新后重新采样。真实终止屏蔽下一价值，任何重置都停止GAE跨回合递推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  <a:p xmlns:a="http://schemas.openxmlformats.org/drawingml/2006/main">
            <a:r>
              <a:t>项目 agents.py:compute_gae / ppo_update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C，建议时长 65 秒。</a:t>
            </a:r>
          </a:p>
          <a:p xmlns:a="http://schemas.openxmlformats.org/drawingml/2006/main">
            <a:r>
              <a:t>每个圆点是一份独立训练在一百张保留图上的均分，菱形是三种子的平均。DQN为一万八千四百七十六点五，Double DQN为一万八千五百八十四点二，两者仅差百分之零点五八，远小于种子间变异，不能宣布明确胜者。PPO约三千九百四十四点八，在本预算与设置下较弱。随机动作仅二百六十二点五，但手工物理规则参考约二万九千七百六十五点八，仍强于学习模型。规则参考读取相同局部观测计算落点，没有给网络提供教师动作。右表同时给上升高度，因为原版分数不等于持续攀升。PPO概率采样另测约三千五百七十六，不替换统一argmax的主结果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results/native_v2/test_episodes.csv（保留地图逐局结果）</a:t>
            </a:r>
          </a:p>
          <a:p xmlns:a="http://schemas.openxmlformats.org/drawingml/2006/main">
            <a:r>
              <a:t>项目 results/native_v2/summary.json（三个训练种子统计）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C，建议时长 65 秒。</a:t>
            </a:r>
          </a:p>
          <a:p xmlns:a="http://schemas.openxmlformats.org/drawingml/2006/main">
            <a:r>
              <a:t>我们用PPO检验速度信息，把玩家横纵速度和移动平台速度置零。输入仍是二百零九维，网络宽度、种子、奖励、验证规则和一百万决策预算一致，并重新训练三个模型。图中每个窗口成对比较完整观测与速度置零的均分，下表保留训练种子标准差。原窗口置零增加约一百零七分，桌面和手机窗口分别减少约三百三十九和二百零七分。结果没有统一方向，原窗口也存在明显种子变异。三个训练种子不足以证明速度特征必然有益或有害。实验体现了观测设计与优化随机性共同影响策略，后续需要更多种子与配对分析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results/native_v2/summary.json（PPO速度置零对照）</a:t>
            </a:r>
          </a:p>
          <a:p xmlns:a="http://schemas.openxmlformats.org/drawingml/2006/main">
            <a:r>
              <a:t>项目 env.py:obs / models/native_v2_ppo_*/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D，建议时长 65 秒。</a:t>
            </a:r>
          </a:p>
          <a:p xmlns:a="http://schemas.openxmlformats.org/drawingml/2006/main">
            <a:r>
              <a:t>所有模型只在六百八十三乘八百七十一的原版窗口训练，再直接测试桌面和手机画布。柱图给各算法均分，下表保留训练种子标准差。窗口尺寸沿用原引擎的适配规则，因此物理尺度、初始布局和固定三百阈值的相对位置也会变化。我们没有人为增大间距或加入新障碍，但跨窗口分数并不是统一难度单位，所以主要应在同一窗口比较算法。观察上DQN和Double DQN仍明显高于PPO，DQN与Double DQN的相对排序会变化。变化可能来自状态分布、原版缩放或特殊边界，当前没有独立消融证明某一个原因。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results/native_v2/test_episodes.csv（保留地图逐局结果）</a:t>
            </a:r>
          </a:p>
          <a:p xmlns:a="http://schemas.openxmlformats.org/drawingml/2006/main">
            <a:r>
              <a:t>项目 results/native_v2/summary.json（三个训练种子统计）</a:t>
            </a:r>
          </a:p>
          <a:p xmlns:a="http://schemas.openxmlformats.org/drawingml/2006/main">
            <a:r>
              <a:t>项目 viewport.py / WINDOW_AUDIT.md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D，建议时长 65 秒。</a:t>
            </a:r>
          </a:p>
          <a:p xmlns:a="http://schemas.openxmlformats.org/drawingml/2006/main">
            <a:r>
              <a:t>这一页来自浏览器运行真实导出权重。左边和右边都是中途截图，当前帧得分分别为一千七百九十二和八百一十，不是旁边列出的最终成绩。左侧验证演示回合最终四万一千九百四十九分，上升约八千六百一十九；右侧同模型最终一千五百六十五分，因黑洞死亡。展示模型只按验证成绩选定，演示回合不能代替平均测试成绩。下面播放约二十五秒的真实推理GIF。角色每四帧由二百零九维状态计算动作，没有脚本路线或安全平台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assets/native_demo.png / native_failure.png / native_demo.gif</a:t>
            </a:r>
          </a:p>
          <a:p xmlns:a="http://schemas.openxmlformats.org/drawingml/2006/main">
            <a:r>
              <a:t>项目 experiments/native_retrain_20261008中的演示逐帧记录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讲述人 D，建议时长 65 秒。</a:t>
            </a:r>
          </a:p>
          <a:p xmlns:a="http://schemas.openxmlformats.org/drawingml/2006/main">
            <a:r>
              <a:t>在保留原版规则和相同参数量的条件下，DQN与Double DQN的表现接近，PPO在当前设置和预算中较弱。学习模型明显超过随机动作，但物理规则参考仍更强。三种子的观察不足以推出算法普遍优劣，原版分数与高度也必须分开解释。四人分别复核原版环境、DQN和Double DQN、PPO与消融、评测部署及材料，每人主讲三分十五秒。报告按模块写成技术稿，最后须由成员核对真实贡献并填写姓名。下一步可增加训练种子，独立研究高度奖励或带记忆的观测；改规则必须另建版本重新训练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reports/四人分工与验收.md</a:t>
            </a:r>
          </a:p>
          <a:p xmlns:a="http://schemas.openxmlformats.org/drawingml/2006/main">
            <a:r>
              <a:t>项目 results/native_v2/test_episodes.csv（保留地图逐局结果）</a:t>
            </a:r>
          </a:p>
          <a:p xmlns:a="http://schemas.openxmlformats.org/drawingml/2006/main">
            <a:r>
              <a:t>项目 results/native_v2/summary.json（三个训练种子统计）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DQN和Double DQN四万三千七百七十九参数。PPO训练包含价值头共四万三千九百零八，部署只导出策略。CPU型号i7-12700H，内存16GB，RTX3060Laptop6GB可用，但本轮正式使用CPU三进程，每进程一个Torch线程。预先二万决策计时CPU约1931决策每秒，GPU约1343，只代表当前实现与小网络。各训练分钟数含验证和并行竞争，不是标准硬件性能比较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models/native_v2_*/config.json / status.json</a:t>
            </a:r>
          </a:p>
          <a:p xmlns:a="http://schemas.openxmlformats.org/drawingml/2006/main">
            <a:r>
              <a:t>项目 agents.py / train.py / 设备计时记录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旧模型使用405乘720的历史训练画布，新模型使用683乘871。这里旧新都在当前683乘871和相同61000到61099的一百张新图上测试，每算法三个训练种子。参数量和隐藏宽度保持一致。表格只能描述整次重训的结果，不能把变化归因网络规模、窗口或单一修复。历史训练分布与本次不同，因此不是严格单因素因果实验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results/native_v2/旧模型与重训对比.md</a:t>
            </a:r>
          </a:p>
          <a:p xmlns:a="http://schemas.openxmlformats.org/drawingml/2006/main">
            <a:r>
              <a:t>项目 results/native_v2/test_episodes.csv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W和H是原版画布宽高，wrapΔx表示取横向绕屏最短相对差。玩家第五维是当前累计上升高度减去历史最高上升高度，再除以H，不是绝对最高高度。平台每槽十个字段按图列出，三个one-hot分别是普通、移动、易碎。springX是相对平台中心的水平偏移，输入除以W。有效平台按到玩家的绝对纵向距离排序，只选最近二十个，其余不输入，空槽补零。黑洞半径特征为30除以W。所有结构观测不包含未来地图、随机状态或教师动作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项目 env.py:obs / bridge-core.js:observation</a:t>
            </a:r>
          </a:p>
          <a:p xmlns:a="http://schemas.openxmlformats.org/drawingml/2006/main">
            <a:r>
              <a:t>项目 upstream/js/platform.js（弹簧相对偏移）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原文件二十一个哈希全部匹配。直接运行未改的上游JavaScript做数值对照，累计八万一千八百零三物理帧，当前真实浏览器另核对四千二百零二帧。十二个新模型各三百六十观测，与PyTorch比较共四千三百二十组，动作差异为零。七个特殊案例覆盖碰撞、弹簧、绕屏、黑洞和数组刷新。开源仓库包含代码、权重、逐局CSV、报告、讲稿与来源声明。试玩双击start_game.cmd，训练需要先安装requirements并使用retrain_native.py。游戏代码保留MIT，第三方图片和声音来源单独声明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  <a:p xmlns:a="http://schemas.openxmlformats.org/drawingml/2006/main">
            <a:r>
              <a:t>https://github.com/25zs25/DoodleJump-RL-CourseProject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https://arxiv.org/abs/1509.06461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  <a:p xmlns:a="http://schemas.openxmlformats.org/drawingml/2006/main">
            <a:r>
              <a:t>项目 VERIFICATION.json / PROVENANCE.md / THIRD_PARTY_NOTICES.md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28ed8c57d42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4b627350044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5b4be4ac545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f753f35df4c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38edea3d046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4172fe116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0F09B4-42F4-4EFB-862D-E2BCF141C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37CEF2-923F-4C7C-AA38-81F0BE391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A3707B-0607-4AC4-954A-C5B098CF6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A35AD-2B1C-45DB-BE8E-4177F79C0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F6556F-1664-4761-923D-35FC06737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87CC66-4B5D-4CD4-B02B-E393E1FAA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437CC7-34A5-401C-BE94-C3D1C1623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30C477-B43D-4725-941C-A652D17045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D98BFF-E97E-4900-A353-A4003D43BE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4A734-75A7-4C16-8059-A66C97261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8bb7ad6044004" /><Relationship Type="http://schemas.openxmlformats.org/officeDocument/2006/relationships/slideLayout" Target="/ppt/slideLayouts/slideLayout1.xml" Id="R1c2bad1c5bf64734" /><Relationship Type="http://schemas.openxmlformats.org/officeDocument/2006/relationships/slideLayout" Target="/ppt/slideLayouts/slideLayout2.xml" Id="Rf21da2522cb14993" /><Relationship Type="http://schemas.openxmlformats.org/officeDocument/2006/relationships/slideLayout" Target="/ppt/slideLayouts/slideLayout3.xml" Id="Rfd507ab50db04891" /><Relationship Type="http://schemas.openxmlformats.org/officeDocument/2006/relationships/slideLayout" Target="/ppt/slideLayouts/slideLayout4.xml" Id="R31a7bc19a3fc43fd" /><Relationship Type="http://schemas.openxmlformats.org/officeDocument/2006/relationships/slideLayout" Target="/ppt/slideLayouts/slideLayout5.xml" Id="R990da58953914461" /><Relationship Type="http://schemas.openxmlformats.org/officeDocument/2006/relationships/slideLayout" Target="/ppt/slideLayouts/slideLayout6.xml" Id="R75ce5b075382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bad1c5bf64734"/>
    <p:sldLayoutId xmlns:r="http://schemas.openxmlformats.org/officeDocument/2006/relationships" id="2147483650" r:id="Rf21da2522cb14993"/>
    <p:sldLayoutId xmlns:r="http://schemas.openxmlformats.org/officeDocument/2006/relationships" id="2147483651" r:id="Rfd507ab50db04891"/>
    <p:sldLayoutId xmlns:r="http://schemas.openxmlformats.org/officeDocument/2006/relationships" id="2147483652" r:id="R31a7bc19a3fc43fd"/>
    <p:sldLayoutId xmlns:r="http://schemas.openxmlformats.org/officeDocument/2006/relationships" id="2147483653" r:id="R990da58953914461"/>
    <p:sldLayoutId xmlns:r="http://schemas.openxmlformats.org/officeDocument/2006/relationships" id="2147483654" r:id="R75ce5b075382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f375f613b4885" /><Relationship Type="http://schemas.openxmlformats.org/officeDocument/2006/relationships/image" Target="/ppt/media/image.png" Id="Rd69743463de24260" /><Relationship Type="http://schemas.openxmlformats.org/officeDocument/2006/relationships/notesSlide" Target="/ppt/notesSlides/notesSlide1.xml" Id="R13a0ce54731c40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d5ebeabe640b3" /><Relationship Type="http://schemas.openxmlformats.org/officeDocument/2006/relationships/image" Target="/ppt/media/image2.png" Id="Ra5e2e04999e24174" /><Relationship Type="http://schemas.openxmlformats.org/officeDocument/2006/relationships/notesSlide" Target="/ppt/notesSlides/notesSlide2.xml" Id="R1e2da94f773d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bc6fb4c204748" /><Relationship Type="http://schemas.openxmlformats.org/officeDocument/2006/relationships/notesSlide" Target="/ppt/notesSlides/notesSlide3.xml" Id="R96b44452622b42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a03b680104a75" /><Relationship Type="http://schemas.openxmlformats.org/officeDocument/2006/relationships/notesSlide" Target="/ppt/notesSlides/notesSlide4.xml" Id="R332932eb5f21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d9594e8df4474" /><Relationship Type="http://schemas.openxmlformats.org/officeDocument/2006/relationships/notesSlide" Target="/ppt/notesSlides/notesSlide5.xml" Id="R370aac5fec0d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a12f3c144e92" /><Relationship Type="http://schemas.openxmlformats.org/officeDocument/2006/relationships/notesSlide" Target="/ppt/notesSlides/notesSlide6.xml" Id="R862318dd74e144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031109b774d3e" /><Relationship Type="http://schemas.openxmlformats.org/officeDocument/2006/relationships/notesSlide" Target="/ppt/notesSlides/notesSlide7.xml" Id="Rbcb64e592a864d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ab7cdf28d40b0" /><Relationship Type="http://schemas.openxmlformats.org/officeDocument/2006/relationships/chart" Target="/ppt/slides/charts/chart1.xml" Id="R626e2f8512da4ce5" /><Relationship Type="http://schemas.openxmlformats.org/officeDocument/2006/relationships/chart" Target="/ppt/slides/charts/chart2.xml" Id="R4b96383a63dc49e4" /><Relationship Type="http://schemas.openxmlformats.org/officeDocument/2006/relationships/chart" Target="/ppt/slides/charts/chart3.xml" Id="R9918d3ea73f1473a" /><Relationship Type="http://schemas.openxmlformats.org/officeDocument/2006/relationships/notesSlide" Target="/ppt/notesSlides/notesSlide8.xml" Id="Rd3c2caf0815549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91fb178524e2f" /><Relationship Type="http://schemas.openxmlformats.org/officeDocument/2006/relationships/notesSlide" Target="/ppt/notesSlides/notesSlide9.xml" Id="Re78bea902683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fa8680b88463a" /><Relationship Type="http://schemas.openxmlformats.org/officeDocument/2006/relationships/chart" Target="/ppt/slides/charts/chart4.xml" Id="R028fb318cab24f37" /><Relationship Type="http://schemas.openxmlformats.org/officeDocument/2006/relationships/notesSlide" Target="/ppt/notesSlides/notesSlide10.xml" Id="Reb8bdce636f343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9d456cae14257" /><Relationship Type="http://schemas.openxmlformats.org/officeDocument/2006/relationships/chart" Target="/ppt/slides/charts/chart5.xml" Id="R0a1863acca1c4078" /><Relationship Type="http://schemas.openxmlformats.org/officeDocument/2006/relationships/notesSlide" Target="/ppt/notesSlides/notesSlide11.xml" Id="Raf342e7ce0af42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5a3af5cde4df4" /><Relationship Type="http://schemas.openxmlformats.org/officeDocument/2006/relationships/chart" Target="/ppt/slides/charts/chart6.xml" Id="R039f2af352c44287" /><Relationship Type="http://schemas.openxmlformats.org/officeDocument/2006/relationships/notesSlide" Target="/ppt/notesSlides/notesSlide12.xml" Id="Rb417003b7e074d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47f4c067b477d" /><Relationship Type="http://schemas.openxmlformats.org/officeDocument/2006/relationships/image" Target="/ppt/media/image3.png" Id="R26d7e36ae1fe4b8c" /><Relationship Type="http://schemas.openxmlformats.org/officeDocument/2006/relationships/image" Target="/ppt/media/image4.png" Id="R35277035bbb34697" /><Relationship Type="http://schemas.openxmlformats.org/officeDocument/2006/relationships/notesSlide" Target="/ppt/notesSlides/notesSlide13.xml" Id="Rc2ce032d203741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71f170b3c41f6" /><Relationship Type="http://schemas.openxmlformats.org/officeDocument/2006/relationships/notesSlide" Target="/ppt/notesSlides/notesSlide14.xml" Id="Rba649f5649bc4f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2689d6f0e42e0" /><Relationship Type="http://schemas.openxmlformats.org/officeDocument/2006/relationships/notesSlide" Target="/ppt/notesSlides/notesSlide15.xml" Id="R51d08436090c4f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15318a4c14411" /><Relationship Type="http://schemas.openxmlformats.org/officeDocument/2006/relationships/notesSlide" Target="/ppt/notesSlides/notesSlide16.xml" Id="Rd5a296732f3040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5776a2351485d" /><Relationship Type="http://schemas.openxmlformats.org/officeDocument/2006/relationships/notesSlide" Target="/ppt/notesSlides/notesSlide17.xml" Id="Rbf8d59b61d1f4e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e7b6b846b45fa" /><Relationship Type="http://schemas.openxmlformats.org/officeDocument/2006/relationships/notesSlide" Target="/ppt/notesSlides/notesSlide18.xml" Id="Rd1d7c4174f4442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种子42</c:v>
          </c:tx>
          <c:spPr>
            <a:ln xmlns:a="http://schemas.openxmlformats.org/drawingml/2006/main" w="14288">
              <a:solidFill>
                <a:srgbClr val="D9BE99"/>
              </a:solidFill>
              <a:prstDash val="solid"/>
            </a:ln>
          </c:spPr>
          <c:marker>
            <c:symbol val="none"/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Data'!$B$2:$B$11</c:f>
              <c:numCache>
                <c:formatCode>0,"k"</c:formatCode>
                <c:ptCount val="10"/>
                <c:pt idx="0">
                  <c:v>591.05</c:v>
                </c:pt>
                <c:pt idx="1">
                  <c:v>3587.6</c:v>
                </c:pt>
                <c:pt idx="2">
                  <c:v>6675.5</c:v>
                </c:pt>
                <c:pt idx="3">
                  <c:v>11048.75</c:v>
                </c:pt>
                <c:pt idx="4">
                  <c:v>18971.05</c:v>
                </c:pt>
                <c:pt idx="5">
                  <c:v>16948.45</c:v>
                </c:pt>
                <c:pt idx="6">
                  <c:v>20525.6</c:v>
                </c:pt>
                <c:pt idx="7">
                  <c:v>12981.55</c:v>
                </c:pt>
                <c:pt idx="8">
                  <c:v>20460.25</c:v>
                </c:pt>
                <c:pt idx="9">
                  <c:v>18602.05</c:v>
                </c:pt>
              </c:numCache>
            </c:numRef>
          </c:yVal>
        </c:ser>
        <c:ser>
          <c:idx val="1"/>
          <c:order val="1"/>
          <c:tx>
            <c:v>种子59</c:v>
          </c:tx>
          <c:spPr>
            <a:ln xmlns:a="http://schemas.openxmlformats.org/drawingml/2006/main" w="14288">
              <a:solidFill>
                <a:srgbClr val="D9BE99"/>
              </a:solidFill>
              <a:prstDash val="solid"/>
            </a:ln>
          </c:spPr>
          <c:marker>
            <c:symbol val="none"/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Data'!$D$2:$D$11</c:f>
              <c:numCache>
                <c:formatCode>0,"k"</c:formatCode>
                <c:ptCount val="10"/>
                <c:pt idx="0">
                  <c:v>309.55</c:v>
                </c:pt>
                <c:pt idx="1">
                  <c:v>4954.5</c:v>
                </c:pt>
                <c:pt idx="2">
                  <c:v>4586.15</c:v>
                </c:pt>
                <c:pt idx="3">
                  <c:v>13441.4</c:v>
                </c:pt>
                <c:pt idx="4">
                  <c:v>22495.15</c:v>
                </c:pt>
                <c:pt idx="5">
                  <c:v>15912.15</c:v>
                </c:pt>
                <c:pt idx="6">
                  <c:v>12200.6</c:v>
                </c:pt>
                <c:pt idx="7">
                  <c:v>10844.8</c:v>
                </c:pt>
                <c:pt idx="8">
                  <c:v>18717.65</c:v>
                </c:pt>
                <c:pt idx="9">
                  <c:v>20140.65</c:v>
                </c:pt>
              </c:numCache>
            </c:numRef>
          </c:yVal>
        </c:ser>
        <c:ser>
          <c:idx val="2"/>
          <c:order val="2"/>
          <c:tx>
            <c:v>种子143</c:v>
          </c:tx>
          <c:spPr>
            <a:ln xmlns:a="http://schemas.openxmlformats.org/drawingml/2006/main" w="14288">
              <a:solidFill>
                <a:srgbClr val="D9BE99"/>
              </a:solidFill>
              <a:prstDash val="solid"/>
            </a:ln>
          </c:spPr>
          <c:marker>
            <c:symbol val="none"/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Data'!$F$2:$F$11</c:f>
              <c:numCache>
                <c:formatCode>0,"k"</c:formatCode>
                <c:ptCount val="10"/>
                <c:pt idx="0">
                  <c:v>506.95</c:v>
                </c:pt>
                <c:pt idx="1">
                  <c:v>4041</c:v>
                </c:pt>
                <c:pt idx="2">
                  <c:v>9979.6</c:v>
                </c:pt>
                <c:pt idx="3">
                  <c:v>16254.6</c:v>
                </c:pt>
                <c:pt idx="4">
                  <c:v>15809.1</c:v>
                </c:pt>
                <c:pt idx="5">
                  <c:v>22314.25</c:v>
                </c:pt>
                <c:pt idx="6">
                  <c:v>16215.85</c:v>
                </c:pt>
                <c:pt idx="7">
                  <c:v>15154.25</c:v>
                </c:pt>
                <c:pt idx="8">
                  <c:v>11378</c:v>
                </c:pt>
                <c:pt idx="9">
                  <c:v>18797.25</c:v>
                </c:pt>
              </c:numCache>
            </c:numRef>
          </c:yVal>
        </c:ser>
        <c:ser>
          <c:idx val="3"/>
          <c:order val="3"/>
          <c:tx>
            <c:v>三种子均值</c:v>
          </c:tx>
          <c:spPr>
            <a:ln xmlns:a="http://schemas.openxmlformats.org/drawingml/2006/main" w="38100">
              <a:solidFill>
                <a:srgbClr val="BC7C30"/>
              </a:solidFill>
              <a:prstDash val="solid"/>
            </a:ln>
          </c:spPr>
          <c:marker>
            <c:symbol val="none"/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Data'!$H$2:$H$11</c:f>
              <c:numCache>
                <c:formatCode>0,"k"</c:formatCode>
                <c:ptCount val="10"/>
                <c:pt idx="0">
                  <c:v>469.183</c:v>
                </c:pt>
                <c:pt idx="1">
                  <c:v>4194.367</c:v>
                </c:pt>
                <c:pt idx="2">
                  <c:v>7080.417</c:v>
                </c:pt>
                <c:pt idx="3">
                  <c:v>13581.583</c:v>
                </c:pt>
                <c:pt idx="4">
                  <c:v>19091.767</c:v>
                </c:pt>
                <c:pt idx="5">
                  <c:v>18391.617</c:v>
                </c:pt>
                <c:pt idx="6">
                  <c:v>16314.017</c:v>
                </c:pt>
                <c:pt idx="7">
                  <c:v>12993.533</c:v>
                </c:pt>
                <c:pt idx="8">
                  <c:v>16851.967</c:v>
                </c:pt>
                <c:pt idx="9">
                  <c:v>19179.983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FD1"/>
              </a:solidFill>
              <a:prstDash val="solid"/>
            </a:ln>
          </c:spPr>
        </c:majorGridlines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0"/>
      </c:valAx>
      <c:valAx>
        <c:axId val="48650112"/>
        <c:scaling>
          <c:orientation val="minMax"/>
          <c:max val="101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6668">
            <a:solidFill>
              <a:srgbClr val="D8DF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种子42</c:v>
          </c:tx>
          <c:spPr>
            <a:ln xmlns:a="http://schemas.openxmlformats.org/drawingml/2006/main" w="14288">
              <a:solidFill>
                <a:srgbClr val="A4BCD0"/>
              </a:solidFill>
              <a:prstDash val="solid"/>
            </a:ln>
          </c:spPr>
          <c:marker>
            <c:symbol val="none"/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Data'!$B$2:$B$11</c:f>
              <c:numCache>
                <c:formatCode>0,"k"</c:formatCode>
                <c:ptCount val="10"/>
                <c:pt idx="0">
                  <c:v>716</c:v>
                </c:pt>
                <c:pt idx="1">
                  <c:v>4066.4</c:v>
                </c:pt>
                <c:pt idx="2">
                  <c:v>6907.45</c:v>
                </c:pt>
                <c:pt idx="3">
                  <c:v>12162.3</c:v>
                </c:pt>
                <c:pt idx="4">
                  <c:v>16612.65</c:v>
                </c:pt>
                <c:pt idx="5">
                  <c:v>13008.25</c:v>
                </c:pt>
                <c:pt idx="6">
                  <c:v>19335.5</c:v>
                </c:pt>
                <c:pt idx="7">
                  <c:v>11217.15</c:v>
                </c:pt>
                <c:pt idx="8">
                  <c:v>16685.85</c:v>
                </c:pt>
                <c:pt idx="9">
                  <c:v>11617.15</c:v>
                </c:pt>
              </c:numCache>
            </c:numRef>
          </c:yVal>
        </c:ser>
        <c:ser>
          <c:idx val="1"/>
          <c:order val="1"/>
          <c:tx>
            <c:v>种子59</c:v>
          </c:tx>
          <c:spPr>
            <a:ln xmlns:a="http://schemas.openxmlformats.org/drawingml/2006/main" w="14288">
              <a:solidFill>
                <a:srgbClr val="A4BCD0"/>
              </a:solidFill>
              <a:prstDash val="solid"/>
            </a:ln>
          </c:spPr>
          <c:marker>
            <c:symbol val="none"/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Data'!$D$2:$D$11</c:f>
              <c:numCache>
                <c:formatCode>0,"k"</c:formatCode>
                <c:ptCount val="10"/>
                <c:pt idx="0">
                  <c:v>926.35</c:v>
                </c:pt>
                <c:pt idx="1">
                  <c:v>2675.55</c:v>
                </c:pt>
                <c:pt idx="2">
                  <c:v>6388.65</c:v>
                </c:pt>
                <c:pt idx="3">
                  <c:v>8645.5</c:v>
                </c:pt>
                <c:pt idx="4">
                  <c:v>12277.1</c:v>
                </c:pt>
                <c:pt idx="5">
                  <c:v>17820.85</c:v>
                </c:pt>
                <c:pt idx="6">
                  <c:v>14677.6</c:v>
                </c:pt>
                <c:pt idx="7">
                  <c:v>16043.9</c:v>
                </c:pt>
                <c:pt idx="8">
                  <c:v>14358.4</c:v>
                </c:pt>
                <c:pt idx="9">
                  <c:v>11732.9</c:v>
                </c:pt>
              </c:numCache>
            </c:numRef>
          </c:yVal>
        </c:ser>
        <c:ser>
          <c:idx val="2"/>
          <c:order val="2"/>
          <c:tx>
            <c:v>种子143</c:v>
          </c:tx>
          <c:spPr>
            <a:ln xmlns:a="http://schemas.openxmlformats.org/drawingml/2006/main" w="14288">
              <a:solidFill>
                <a:srgbClr val="A4BCD0"/>
              </a:solidFill>
              <a:prstDash val="solid"/>
            </a:ln>
          </c:spPr>
          <c:marker>
            <c:symbol val="none"/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Data'!$F$2:$F$11</c:f>
              <c:numCache>
                <c:formatCode>0,"k"</c:formatCode>
                <c:ptCount val="10"/>
                <c:pt idx="0">
                  <c:v>587.35</c:v>
                </c:pt>
                <c:pt idx="1">
                  <c:v>2195.75</c:v>
                </c:pt>
                <c:pt idx="2">
                  <c:v>4026.05</c:v>
                </c:pt>
                <c:pt idx="3">
                  <c:v>6491.7</c:v>
                </c:pt>
                <c:pt idx="4">
                  <c:v>12749.85</c:v>
                </c:pt>
                <c:pt idx="5">
                  <c:v>18259.95</c:v>
                </c:pt>
                <c:pt idx="6">
                  <c:v>10956.75</c:v>
                </c:pt>
                <c:pt idx="7">
                  <c:v>13944.8</c:v>
                </c:pt>
                <c:pt idx="8">
                  <c:v>11201.05</c:v>
                </c:pt>
                <c:pt idx="9">
                  <c:v>17136.15</c:v>
                </c:pt>
              </c:numCache>
            </c:numRef>
          </c:yVal>
        </c:ser>
        <c:ser>
          <c:idx val="3"/>
          <c:order val="3"/>
          <c:tx>
            <c:v>三种子均值</c:v>
          </c:tx>
          <c:spPr>
            <a:ln xmlns:a="http://schemas.openxmlformats.org/drawingml/2006/main" w="38100">
              <a:solidFill>
                <a:srgbClr val="346F9D"/>
              </a:solidFill>
              <a:prstDash val="solid"/>
            </a:ln>
          </c:spPr>
          <c:marker>
            <c:symbol val="none"/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Data'!$H$2:$H$11</c:f>
              <c:numCache>
                <c:formatCode>0,"k"</c:formatCode>
                <c:ptCount val="10"/>
                <c:pt idx="0">
                  <c:v>743.233</c:v>
                </c:pt>
                <c:pt idx="1">
                  <c:v>2979.233</c:v>
                </c:pt>
                <c:pt idx="2">
                  <c:v>5774.05</c:v>
                </c:pt>
                <c:pt idx="3">
                  <c:v>9099.833</c:v>
                </c:pt>
                <c:pt idx="4">
                  <c:v>13879.867</c:v>
                </c:pt>
                <c:pt idx="5">
                  <c:v>16363.017</c:v>
                </c:pt>
                <c:pt idx="6">
                  <c:v>14989.95</c:v>
                </c:pt>
                <c:pt idx="7">
                  <c:v>13735.283</c:v>
                </c:pt>
                <c:pt idx="8">
                  <c:v>14081.767</c:v>
                </c:pt>
                <c:pt idx="9">
                  <c:v>13495.4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FD1"/>
              </a:solidFill>
              <a:prstDash val="solid"/>
            </a:ln>
          </c:spPr>
        </c:majorGridlines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0"/>
      </c:valAx>
      <c:valAx>
        <c:axId val="48650112"/>
        <c:scaling>
          <c:orientation val="minMax"/>
          <c:max val="101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6668">
            <a:solidFill>
              <a:srgbClr val="D8DF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种子42</c:v>
          </c:tx>
          <c:spPr>
            <a:ln xmlns:a="http://schemas.openxmlformats.org/drawingml/2006/main" w="14288">
              <a:solidFill>
                <a:srgbClr val="AAC4B0"/>
              </a:solidFill>
              <a:prstDash val="solid"/>
            </a:ln>
          </c:spPr>
          <c:marker>
            <c:symbol val="none"/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10.0352</c:v>
                </c:pt>
                <c:pt idx="1">
                  <c:v>20.0704</c:v>
                </c:pt>
                <c:pt idx="2">
                  <c:v>30.0032</c:v>
                </c:pt>
                <c:pt idx="3">
                  <c:v>40.0384</c:v>
                </c:pt>
                <c:pt idx="4">
                  <c:v>50.0736</c:v>
                </c:pt>
                <c:pt idx="5">
                  <c:v>60.0064</c:v>
                </c:pt>
                <c:pt idx="6">
                  <c:v>70.0416</c:v>
                </c:pt>
                <c:pt idx="7">
                  <c:v>80.0768</c:v>
                </c:pt>
                <c:pt idx="8">
                  <c:v>90.0096</c:v>
                </c:pt>
                <c:pt idx="9">
                  <c:v>100</c:v>
                </c:pt>
              </c:numCache>
            </c:numRef>
          </c:xVal>
          <c:yVal>
            <c:numRef>
              <c:f>'Chart Data'!$B$2:$B$11</c:f>
              <c:numCache>
                <c:formatCode>0,"k"</c:formatCode>
                <c:ptCount val="10"/>
                <c:pt idx="0">
                  <c:v>360.4</c:v>
                </c:pt>
                <c:pt idx="1">
                  <c:v>243.2</c:v>
                </c:pt>
                <c:pt idx="2">
                  <c:v>1309.7</c:v>
                </c:pt>
                <c:pt idx="3">
                  <c:v>3287.65</c:v>
                </c:pt>
                <c:pt idx="4">
                  <c:v>3217.45</c:v>
                </c:pt>
                <c:pt idx="5">
                  <c:v>3051.3</c:v>
                </c:pt>
                <c:pt idx="6">
                  <c:v>2373.35</c:v>
                </c:pt>
                <c:pt idx="7">
                  <c:v>2889.85</c:v>
                </c:pt>
                <c:pt idx="8">
                  <c:v>3093.25</c:v>
                </c:pt>
                <c:pt idx="9">
                  <c:v>4112.6</c:v>
                </c:pt>
              </c:numCache>
            </c:numRef>
          </c:yVal>
        </c:ser>
        <c:ser>
          <c:idx val="1"/>
          <c:order val="1"/>
          <c:tx>
            <c:v>种子59</c:v>
          </c:tx>
          <c:spPr>
            <a:ln xmlns:a="http://schemas.openxmlformats.org/drawingml/2006/main" w="14288">
              <a:solidFill>
                <a:srgbClr val="AAC4B0"/>
              </a:solidFill>
              <a:prstDash val="solid"/>
            </a:ln>
          </c:spPr>
          <c:marker>
            <c:symbol val="none"/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10.0352</c:v>
                </c:pt>
                <c:pt idx="1">
                  <c:v>20.0704</c:v>
                </c:pt>
                <c:pt idx="2">
                  <c:v>30.0032</c:v>
                </c:pt>
                <c:pt idx="3">
                  <c:v>40.0384</c:v>
                </c:pt>
                <c:pt idx="4">
                  <c:v>50.0736</c:v>
                </c:pt>
                <c:pt idx="5">
                  <c:v>60.0064</c:v>
                </c:pt>
                <c:pt idx="6">
                  <c:v>70.0416</c:v>
                </c:pt>
                <c:pt idx="7">
                  <c:v>80.0768</c:v>
                </c:pt>
                <c:pt idx="8">
                  <c:v>90.0096</c:v>
                </c:pt>
                <c:pt idx="9">
                  <c:v>100</c:v>
                </c:pt>
              </c:numCache>
            </c:numRef>
          </c:xVal>
          <c:yVal>
            <c:numRef>
              <c:f>'Chart Data'!$D$2:$D$11</c:f>
              <c:numCache>
                <c:formatCode>0,"k"</c:formatCode>
                <c:ptCount val="10"/>
                <c:pt idx="0">
                  <c:v>136.4</c:v>
                </c:pt>
                <c:pt idx="1">
                  <c:v>600.45</c:v>
                </c:pt>
                <c:pt idx="2">
                  <c:v>1157.85</c:v>
                </c:pt>
                <c:pt idx="3">
                  <c:v>2157.9</c:v>
                </c:pt>
                <c:pt idx="4">
                  <c:v>3463</c:v>
                </c:pt>
                <c:pt idx="5">
                  <c:v>3057</c:v>
                </c:pt>
                <c:pt idx="6">
                  <c:v>3721.7</c:v>
                </c:pt>
                <c:pt idx="7">
                  <c:v>2136.2</c:v>
                </c:pt>
                <c:pt idx="8">
                  <c:v>2610.35</c:v>
                </c:pt>
                <c:pt idx="9">
                  <c:v>2841.65</c:v>
                </c:pt>
              </c:numCache>
            </c:numRef>
          </c:yVal>
        </c:ser>
        <c:ser>
          <c:idx val="2"/>
          <c:order val="2"/>
          <c:tx>
            <c:v>种子143</c:v>
          </c:tx>
          <c:spPr>
            <a:ln xmlns:a="http://schemas.openxmlformats.org/drawingml/2006/main" w="14288">
              <a:solidFill>
                <a:srgbClr val="AAC4B0"/>
              </a:solidFill>
              <a:prstDash val="solid"/>
            </a:ln>
          </c:spPr>
          <c:marker>
            <c:symbol val="none"/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10.0352</c:v>
                </c:pt>
                <c:pt idx="1">
                  <c:v>20.0704</c:v>
                </c:pt>
                <c:pt idx="2">
                  <c:v>30.0032</c:v>
                </c:pt>
                <c:pt idx="3">
                  <c:v>40.0384</c:v>
                </c:pt>
                <c:pt idx="4">
                  <c:v>50.0736</c:v>
                </c:pt>
                <c:pt idx="5">
                  <c:v>60.0064</c:v>
                </c:pt>
                <c:pt idx="6">
                  <c:v>70.0416</c:v>
                </c:pt>
                <c:pt idx="7">
                  <c:v>80.0768</c:v>
                </c:pt>
                <c:pt idx="8">
                  <c:v>90.0096</c:v>
                </c:pt>
                <c:pt idx="9">
                  <c:v>100</c:v>
                </c:pt>
              </c:numCache>
            </c:numRef>
          </c:xVal>
          <c:yVal>
            <c:numRef>
              <c:f>'Chart Data'!$F$2:$F$11</c:f>
              <c:numCache>
                <c:formatCode>0,"k"</c:formatCode>
                <c:ptCount val="10"/>
                <c:pt idx="0">
                  <c:v>311.05</c:v>
                </c:pt>
                <c:pt idx="1">
                  <c:v>532.65</c:v>
                </c:pt>
                <c:pt idx="2">
                  <c:v>479.05</c:v>
                </c:pt>
                <c:pt idx="3">
                  <c:v>1367.85</c:v>
                </c:pt>
                <c:pt idx="4">
                  <c:v>3044.95</c:v>
                </c:pt>
                <c:pt idx="5">
                  <c:v>2920.8</c:v>
                </c:pt>
                <c:pt idx="6">
                  <c:v>3126.75</c:v>
                </c:pt>
                <c:pt idx="7">
                  <c:v>3909.1</c:v>
                </c:pt>
                <c:pt idx="8">
                  <c:v>2567.5</c:v>
                </c:pt>
                <c:pt idx="9">
                  <c:v>2944.75</c:v>
                </c:pt>
              </c:numCache>
            </c:numRef>
          </c:yVal>
        </c:ser>
        <c:ser>
          <c:idx val="3"/>
          <c:order val="3"/>
          <c:tx>
            <c:v>三种子均值</c:v>
          </c:tx>
          <c:spPr>
            <a:ln xmlns:a="http://schemas.openxmlformats.org/drawingml/2006/main" w="38100">
              <a:solidFill>
                <a:srgbClr val="39744A"/>
              </a:solidFill>
              <a:prstDash val="solid"/>
            </a:ln>
          </c:spPr>
          <c:marker>
            <c:symbol val="none"/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xVal>
          <c:yVal>
            <c:numRef>
              <c:f>'Chart Data'!$H$2:$H$11</c:f>
              <c:numCache>
                <c:formatCode>0,"k"</c:formatCode>
                <c:ptCount val="10"/>
                <c:pt idx="0">
                  <c:v>269.283</c:v>
                </c:pt>
                <c:pt idx="1">
                  <c:v>458.767</c:v>
                </c:pt>
                <c:pt idx="2">
                  <c:v>982.2</c:v>
                </c:pt>
                <c:pt idx="3">
                  <c:v>2271.133</c:v>
                </c:pt>
                <c:pt idx="4">
                  <c:v>3241.8</c:v>
                </c:pt>
                <c:pt idx="5">
                  <c:v>3009.7</c:v>
                </c:pt>
                <c:pt idx="6">
                  <c:v>3073.933</c:v>
                </c:pt>
                <c:pt idx="7">
                  <c:v>2978.383</c:v>
                </c:pt>
                <c:pt idx="8">
                  <c:v>2757.033</c:v>
                </c:pt>
                <c:pt idx="9">
                  <c:v>3299.667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FD1"/>
              </a:solidFill>
              <a:prstDash val="solid"/>
            </a:ln>
          </c:spPr>
        </c:majorGridlines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0"/>
      </c:valAx>
      <c:valAx>
        <c:axId val="48650112"/>
        <c:scaling>
          <c:orientation val="minMax"/>
          <c:max val="101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6668">
            <a:solidFill>
              <a:srgbClr val="D8DF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DQN三种子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D9BE99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0.93</c:v>
                </c:pt>
                <c:pt idx="1">
                  <c:v>1</c:v>
                </c:pt>
                <c:pt idx="2">
                  <c:v>1.07</c:v>
                </c:pt>
              </c:numCache>
            </c:numRef>
          </c:xVal>
          <c:yVal>
            <c:numRef>
              <c:f>'Chart Data'!$B$2:$B$4</c:f>
              <c:numCache>
                <c:formatCode>0</c:formatCode>
                <c:ptCount val="3"/>
                <c:pt idx="0">
                  <c:v>19733.65</c:v>
                </c:pt>
                <c:pt idx="1">
                  <c:v>17491.58</c:v>
                </c:pt>
                <c:pt idx="2">
                  <c:v>18204.27</c:v>
                </c:pt>
              </c:numCache>
            </c:numRef>
          </c:yVal>
        </c:ser>
        <c:ser>
          <c:idx val="1"/>
          <c:order val="1"/>
          <c:tx>
            <c:v>DQN均值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4"/>
            <c:spPr>
              <a:solidFill xmlns:a="http://schemas.openxmlformats.org/drawingml/2006/main">
                <a:srgbClr val="BC7C30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18476.5</c:v>
                </c:pt>
              </c:numCache>
            </c:numRef>
          </c:yVal>
        </c:ser>
        <c:ser>
          <c:idx val="2"/>
          <c:order val="2"/>
          <c:tx>
            <c:v>Double DQN三种子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A4BCD0"/>
              </a:solidFill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1.93</c:v>
                </c:pt>
                <c:pt idx="1">
                  <c:v>2</c:v>
                </c:pt>
                <c:pt idx="2">
                  <c:v>2.07</c:v>
                </c:pt>
              </c:numCache>
            </c:numRef>
          </c:xVal>
          <c:yVal>
            <c:numRef>
              <c:f>'Chart Data'!$F$2:$F$4</c:f>
              <c:numCache>
                <c:formatCode>0</c:formatCode>
                <c:ptCount val="3"/>
                <c:pt idx="0">
                  <c:v>20656.82</c:v>
                </c:pt>
                <c:pt idx="1">
                  <c:v>18358.73</c:v>
                </c:pt>
                <c:pt idx="2">
                  <c:v>16736.91</c:v>
                </c:pt>
              </c:numCache>
            </c:numRef>
          </c:yVal>
        </c:ser>
        <c:ser>
          <c:idx val="3"/>
          <c:order val="3"/>
          <c:tx>
            <c:v>Double DQN均值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4"/>
            <c:spPr>
              <a:solidFill xmlns:a="http://schemas.openxmlformats.org/drawingml/2006/main">
                <a:srgbClr val="346F9D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18584.153</c:v>
                </c:pt>
              </c:numCache>
            </c:numRef>
          </c:yVal>
        </c:ser>
        <c:ser>
          <c:idx val="4"/>
          <c:order val="4"/>
          <c:tx>
            <c:v>PPO三种子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AAC4B0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2.93</c:v>
                </c:pt>
                <c:pt idx="1">
                  <c:v>3</c:v>
                </c:pt>
                <c:pt idx="2">
                  <c:v>3.07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4212.3</c:v>
                </c:pt>
                <c:pt idx="1">
                  <c:v>3328.11</c:v>
                </c:pt>
                <c:pt idx="2">
                  <c:v>4293.95</c:v>
                </c:pt>
              </c:numCache>
            </c:numRef>
          </c:yVal>
        </c:ser>
        <c:ser>
          <c:idx val="5"/>
          <c:order val="5"/>
          <c:tx>
            <c:v>PPO均值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4"/>
            <c:spPr>
              <a:solidFill xmlns:a="http://schemas.openxmlformats.org/drawingml/2006/main">
                <a:srgbClr val="39744A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Data'!$L$2:$L$2</c:f>
              <c:numCache>
                <c:formatCode>0</c:formatCode>
                <c:ptCount val="1"/>
                <c:pt idx="0">
                  <c:v>3944.787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0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8DFD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6000"/>
      </c:valAx>
      <c:valAx>
        <c:axId val="48650112"/>
        <c:scaling>
          <c:orientation val="minMax"/>
          <c:max val="3.5"/>
          <c:min val="0.5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当前</c:v>
          </c:tx>
          <c:spPr>
            <a:ln xmlns:a="http://schemas.openxmlformats.org/drawingml/2006/main" w="19050">
              <a:solidFill>
                <a:srgbClr val="A3B4A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0.89</c:v>
                </c:pt>
                <c:pt idx="1">
                  <c:v>1.11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3944.787</c:v>
                </c:pt>
                <c:pt idx="1">
                  <c:v>4052.243</c:v>
                </c:pt>
              </c:numCache>
            </c:numRef>
          </c:yVal>
        </c:ser>
        <c:ser>
          <c:idx val="1"/>
          <c:order val="1"/>
          <c:tx>
            <c:v>桌面</c:v>
          </c:tx>
          <c:spPr>
            <a:ln xmlns:a="http://schemas.openxmlformats.org/drawingml/2006/main" w="19050">
              <a:solidFill>
                <a:srgbClr val="A3B4A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1.89</c:v>
                </c:pt>
                <c:pt idx="1">
                  <c:v>2.11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3021.667</c:v>
                </c:pt>
                <c:pt idx="1">
                  <c:v>2683.12</c:v>
                </c:pt>
              </c:numCache>
            </c:numRef>
          </c:yVal>
        </c:ser>
        <c:ser>
          <c:idx val="2"/>
          <c:order val="2"/>
          <c:tx>
            <c:v>手机</c:v>
          </c:tx>
          <c:spPr>
            <a:ln xmlns:a="http://schemas.openxmlformats.org/drawingml/2006/main" w="19050">
              <a:solidFill>
                <a:srgbClr val="A3B4A2"/>
              </a:solidFill>
              <a:prstDash val="solid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2.89</c:v>
                </c:pt>
                <c:pt idx="1">
                  <c:v>3.11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3726.083</c:v>
                </c:pt>
                <c:pt idx="1">
                  <c:v>3518.867</c:v>
                </c:pt>
              </c:numCache>
            </c:numRef>
          </c:yVal>
        </c:ser>
        <c:ser>
          <c:idx val="3"/>
          <c:order val="3"/>
          <c:tx>
            <c:v>完整观测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9744A"/>
              </a:solidFill>
            </c:spPr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0.89</c:v>
                </c:pt>
                <c:pt idx="1">
                  <c:v>1.89</c:v>
                </c:pt>
                <c:pt idx="2">
                  <c:v>2.89</c:v>
                </c:pt>
              </c:numCache>
            </c:numRef>
          </c:xVal>
          <c:yVal>
            <c:numRef>
              <c:f>'Chart Data'!$H$2:$H$4</c:f>
              <c:numCache>
                <c:formatCode>0</c:formatCode>
                <c:ptCount val="3"/>
                <c:pt idx="0">
                  <c:v>3944.787</c:v>
                </c:pt>
                <c:pt idx="1">
                  <c:v>3021.667</c:v>
                </c:pt>
                <c:pt idx="2">
                  <c:v>3726.083</c:v>
                </c:pt>
              </c:numCache>
            </c:numRef>
          </c:yVal>
        </c:ser>
        <c:ser>
          <c:idx val="4"/>
          <c:order val="4"/>
          <c:tx>
            <c:v>速度置零</c:v>
          </c:tx>
          <c:spPr>
            <a:ln xmlns:a="http://schemas.openxmlformats.org/drawingml/2006/main" w="0">
              <a:noFill/>
            </a:ln>
          </c:spPr>
          <c:marker>
            <c:symbol val="square"/>
            <c:size val="10"/>
            <c:spPr>
              <a:solidFill xmlns:a="http://schemas.openxmlformats.org/drawingml/2006/main">
                <a:srgbClr val="346F9D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1.11</c:v>
                </c:pt>
                <c:pt idx="1">
                  <c:v>2.11</c:v>
                </c:pt>
                <c:pt idx="2">
                  <c:v>3.11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4052.243</c:v>
                </c:pt>
                <c:pt idx="1">
                  <c:v>2683.12</c:v>
                </c:pt>
                <c:pt idx="2">
                  <c:v>3518.867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FD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3.45"/>
          <c:min val="0.55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DQN</c:v>
          </c:tx>
          <c:spPr>
            <a:solidFill xmlns:a="http://schemas.openxmlformats.org/drawingml/2006/main">
              <a:srgbClr val="BC7C30"/>
            </a:solidFill>
          </c:spPr>
          <c:cat>
            <c:strRef>
              <c:f>'Chart Data'!$A$2:$A$4</c:f>
              <c:strCache>
                <c:ptCount val="3"/>
                <c:pt idx="0">
                  <c:v>当前683×871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18476.5</c:v>
                </c:pt>
                <c:pt idx="1">
                  <c:v>19202.97</c:v>
                </c:pt>
                <c:pt idx="2">
                  <c:v>14150.887</c:v>
                </c:pt>
              </c:numCache>
            </c:numRef>
          </c:val>
        </c:ser>
        <c:ser>
          <c:idx val="1"/>
          <c:order val="1"/>
          <c:tx>
            <c:v>Double DQN</c:v>
          </c:tx>
          <c:spPr>
            <a:solidFill xmlns:a="http://schemas.openxmlformats.org/drawingml/2006/main">
              <a:srgbClr val="346F9D"/>
            </a:solidFill>
          </c:spP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75">
                    <a:solidFill>
                      <a:srgbClr val="F7F5EA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当前683×871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18584.153</c:v>
                </c:pt>
                <c:pt idx="1">
                  <c:v>16636.5</c:v>
                </c:pt>
                <c:pt idx="2">
                  <c:v>14735.09</c:v>
                </c:pt>
              </c:numCache>
            </c:numRef>
          </c:val>
        </c:ser>
        <c:ser>
          <c:idx val="2"/>
          <c:order val="2"/>
          <c:tx>
            <c:v>PPO</c:v>
          </c:tx>
          <c:spPr>
            <a:solidFill xmlns:a="http://schemas.openxmlformats.org/drawingml/2006/main">
              <a:srgbClr val="39744A"/>
            </a:solidFill>
          </c:spPr>
          <c:cat>
            <c:strRef>
              <c:f>'Chart Data'!$E$2:$E$4</c:f>
              <c:strCache>
                <c:ptCount val="3"/>
                <c:pt idx="0">
                  <c:v>当前683×871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3944.787</c:v>
                </c:pt>
                <c:pt idx="1">
                  <c:v>3021.667</c:v>
                </c:pt>
                <c:pt idx="2">
                  <c:v>3726.083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2E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6668">
            <a:solidFill>
              <a:srgbClr val="D8DF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5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DFD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7F5EA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82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5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1130E-F9B0-4F92-9375-D8E4BEE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FE57-C54C-4850-9749-84FD8E0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3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Doodle Jump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172D5-6E5B-45EC-9D1D-51DCB3CC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9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原版规则强化学习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7DB1-DC60-4B20-AF91-D9BD369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963D2-B84E-4CCE-8ADE-9F8337D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81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Double DQN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65CA2-F24E-4609-996E-03BFBEC4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81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PPO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4BC73-017B-47F9-AA07-2D835F7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7429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26秋研究生《强化学习》课程</a:t>
            </a:r>
          </a:p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四人小组 A / B / C / 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942EA-F968-4F4E-B66F-4A1043EF1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743463de24260"/>
          <a:stretch xmlns:a="http://schemas.openxmlformats.org/drawingml/2006/main"/>
        </p:blipFill>
        <p:spPr>
          <a:xfrm xmlns:a="http://schemas.openxmlformats.org/drawingml/2006/main">
            <a:off x="8648700" y="2421255"/>
            <a:ext cx="2438400" cy="23774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2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C702B-C54D-4300-B7C8-843341A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原版游戏与左右控制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613C7-B83B-440C-916F-3034AD55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6B3E1-24F8-4D4C-955A-14289D941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2e04999e24174"/>
          <a:stretch xmlns:a="http://schemas.openxmlformats.org/drawingml/2006/main"/>
        </p:blipFill>
        <p:spPr>
          <a:xfrm xmlns:a="http://schemas.openxmlformats.org/drawingml/2006/main">
            <a:off x="688039" y="1457325"/>
            <a:ext cx="3595972" cy="459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C53E-F785-4CCA-B1F0-A3091B9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62100"/>
            <a:ext cx="676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角色自动起跳，策略只控制横向动作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4B850-4A47-496D-9E81-D1223FD1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4792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左 / 不动 / 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5619-5917-4825-84DE-3EE5A1C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0425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移动平台：预测下降时的落点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易碎与弹簧：改变下一次借力机会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黑洞与绕屏：选择安全的移动方向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31C3A-E328-4BCB-A17C-FB54ADC6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91150"/>
            <a:ext cx="676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每4帧执行一次决策，地图没有预设路线</a:t>
            </a:r>
          </a:p>
        </p:txBody>
      </p:sp>
    </p:spTree>
    <p:extLst>
      <p:ext uri="{BB962C8B-B14F-4D97-AF65-F5344CB8AC3E}">
        <p14:creationId xmlns:p14="http://schemas.microsoft.com/office/powerpoint/2010/main" val="1284831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2EB67-5FA7-4E35-8ABB-35EEE2C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原版引擎与训练接口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C68E2-98C4-45AF-BD01-E39FF2C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9E93A-4E90-40FA-A8C5-76F01E9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2495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1AD8E-D0F9-4C0E-B954-B2BB191F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38325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个上游原文件，哈希逐一匹配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ABAA2-0C9F-430D-9331-19EE6DA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保留的游戏行为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14423-473A-4C87-8BC8-5296AC8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933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原素材与绘制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升降重力与碰撞顺序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全宽随机平台与原刷新规则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CAF59-CFB4-4A87-BED7-74DB421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新增的外围接口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3B449-E86D-4E14-A98E-01881A32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4933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reset(seed) 与 step(action)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局部观测、训练奖励与时间截断</a:t>
            </a:r>
          </a:p>
          <a:p xmlns:a="http://schemas.openxmlformats.org/drawingml/2006/main">
            <a:pPr algn="l">
              <a:def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独立高度指标与测试日志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D94B0-3340-4A30-93D6-519B506E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原版特殊行为继续保留，规则修复需另建环境并重新训练</a:t>
            </a:r>
          </a:p>
        </p:txBody>
      </p:sp>
    </p:spTree>
    <p:extLst>
      <p:ext uri="{BB962C8B-B14F-4D97-AF65-F5344CB8AC3E}">
        <p14:creationId xmlns:p14="http://schemas.microsoft.com/office/powerpoint/2010/main" val="150825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D1F45-AD75-4C14-8649-0B700A7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209维局部观测与奖励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658C2-4691-4CEB-9CF5-A3F3893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8F1B-FE90-460D-B1DD-160D308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5 + 20 × 10 + 4 = 209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7B5A0-8462-466C-9B17-8E7C63C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27865-A22E-4F4E-A31D-6CB7EAEF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位置与速度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最高上升高度差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DD8D3-5EB3-4CAC-A170-09CAAA2E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可见平台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10322-BD97-42D1-998D-9B5D945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8025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相对位置、速度、类型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弹簧与有效掩码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DA27C-5C12-47FC-B8FB-BA142097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19375"/>
            <a:ext cx="2686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单黑洞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5CFCB-6676-4B05-964A-5DFE76A8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48025"/>
            <a:ext cx="268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相对位置、半径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有效掩码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44EB-0BC5-4D52-8916-E0A6564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209输入，两层128，3个Q值或动作概率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8C117-2257-4F00-831A-9FCA75A2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r = Δ原版得分 / 100 − 0.001 − 1 × 死亡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06E0B-FA69-4E97-9C33-4D427FD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局部结构观测，部分可观测。1500决策是时限，跌落或黑洞才是真实终止</a:t>
            </a:r>
          </a:p>
        </p:txBody>
      </p:sp>
    </p:spTree>
    <p:extLst>
      <p:ext uri="{BB962C8B-B14F-4D97-AF65-F5344CB8AC3E}">
        <p14:creationId xmlns:p14="http://schemas.microsoft.com/office/powerpoint/2010/main" val="23719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95AD5-D9B6-4489-A074-07534D6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DQN的回放与价值更新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8BF65-90F3-4019-8DAE-EA61254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599E7-C090-4F30-9B55-E060D44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交互数据存入回放，随机小批量更新在线网络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F3259-2DF9-4D18-A515-28A62012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TD目标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9FEF-C7A8-4645-9655-02399B1F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24125"/>
            <a:ext cx="7962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9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y = r + γ(1 − d) maxₐ′ Qφ(s′, a′)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83DF-BB85-424F-9122-76F0C3F7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Huber损失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6639D-470D-4A60-BCCA-D2A5B99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38550"/>
            <a:ext cx="796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Lθ = E[Huber(Qθ(s, a) − stopgrad(y))]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5A66D-901C-42E0-BAB3-63FB62E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θ：在线网络参数，Adam反向更新</a:t>
            </a:r>
          </a:p>
          <a:p xmlns:a="http://schemas.openxmlformats.org/drawingml/2006/main">
            <a:pPr algn="l">
              <a:def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φ：目标网络参数，每2000决策同步</a:t>
            </a:r>
          </a:p>
          <a:p xmlns:a="http://schemas.openxmlformats.org/drawingml/2006/main">
            <a:pPr algn="l">
              <a:def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d：真实死亡标记，时间截断不置1</a:t>
            </a:r>
          </a:p>
        </p:txBody>
      </p:sp>
    </p:spTree>
    <p:extLst>
      <p:ext uri="{BB962C8B-B14F-4D97-AF65-F5344CB8AC3E}">
        <p14:creationId xmlns:p14="http://schemas.microsoft.com/office/powerpoint/2010/main" val="5225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1B794-59B6-4C05-AE91-63C6D18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Double DQN的动作选择与估值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D19E3-03AF-475D-A270-8E1AF74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D0A67-275D-4B5D-8C1C-24291EAF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在线网络选择动作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81CA0-84EE-4427-BD1F-2AB88DD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a* = argmaxₐ′ Qθ(s′, a′)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7A198-596E-4051-92DD-A13E8A0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目标网络评估该动作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24AC-6304-4B0D-ACCB-F0265B1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y = r + γ(1 − d) Qφ(s′, a*)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A6BB-2861-4EE8-91AD-6131A64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网络、回放、探索与预算相同，只改变TD目标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4733B-015D-42D1-BA09-A0BA271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降低估计偏差不保证每次最终得分更高</a:t>
            </a:r>
          </a:p>
        </p:txBody>
      </p:sp>
    </p:spTree>
    <p:extLst>
      <p:ext uri="{BB962C8B-B14F-4D97-AF65-F5344CB8AC3E}">
        <p14:creationId xmlns:p14="http://schemas.microsoft.com/office/powerpoint/2010/main" val="8699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EAD33-5082-447E-AC07-8FFEB71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独立训练、验证与保留测试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6E51-5056-43E2-AF49-E55AFC2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ECE5B-AF55-433F-A273-E0B56C7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每算法 100万决策 × 3个训练种子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15C3-D16A-4B6E-93C4-914B70EFDA6E}"/>
              </a:ext>
            </a:extLst>
          </p:cNvPr>
          <p:cNvGraphicFramePr/>
          <p:nvPr/>
        </p:nvGraphicFramePr>
        <p:xfrm>
          <a:off xmlns:a="http://schemas.openxmlformats.org/drawingml/2006/main" x="685800" y="2428875"/>
          <a:ext xmlns:a="http://schemas.openxmlformats.org/drawingml/2006/main" cx="10820400" cy="2409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5810250"/>
                <a:gridCol w="3333750"/>
              </a:tblGrid>
              <a:tr h="6024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规模与范围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种子42 / 59 / 143，地图≥1000000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更新策略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20张固定地图，10000–10019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选择最佳检查点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3个原版窗口，各100张保留地图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冻结模型后评测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F1E1F-B544-473C-9727-2ACC166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PPO速度消融另3次，总计12次训练、1200万决策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73802-3983-44A6-87AD-23B6A866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主比较统一argmax，PPO采样另测。CPU小网络计时更快，正式用三进程</a:t>
            </a:r>
          </a:p>
        </p:txBody>
      </p:sp>
    </p:spTree>
    <p:extLst>
      <p:ext uri="{BB962C8B-B14F-4D97-AF65-F5344CB8AC3E}">
        <p14:creationId xmlns:p14="http://schemas.microsoft.com/office/powerpoint/2010/main" val="893827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EF975-6E49-4771-A09C-99BBC11C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三种子的验证学习曲线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A6387-DBEA-4E02-BF52-8A47B48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9AE68-018D-42DE-81FD-B16E1BF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DQN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E4C8B26-D9DF-44D6-A00C-21235B76799F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342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6e2f8512da4c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8330-EC2F-49FF-98C3-F937CBE9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Double DQN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C120C17-DB75-4AB4-9198-A957C109D4FB}"/>
              </a:ext>
            </a:extLst>
          </p:cNvPr>
          <p:cNvGraphicFramePr/>
          <p:nvPr/>
        </p:nvGraphicFramePr>
        <p:xfrm>
          <a:off xmlns:a="http://schemas.openxmlformats.org/drawingml/2006/main" x="4381500" y="2143125"/>
          <a:ext xmlns:a="http://schemas.openxmlformats.org/drawingml/2006/main" cx="342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96383a63dc49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8266C-D2C0-473C-8E81-D92C036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PPO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8398E71-BF51-4393-97B0-C447AF3C125C}"/>
              </a:ext>
            </a:extLst>
          </p:cNvPr>
          <p:cNvGraphicFramePr/>
          <p:nvPr/>
        </p:nvGraphicFramePr>
        <p:xfrm>
          <a:off xmlns:a="http://schemas.openxmlformats.org/drawingml/2006/main" x="8077200" y="2143125"/>
          <a:ext xmlns:a="http://schemas.openxmlformats.org/drawingml/2006/main" cx="342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18d3ea73f1473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33C1-30F0-46DC-AD7F-6B34ADA7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横轴：训练决策数（万）    纵轴：20张验证图的原版平均得分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31720-8A0C-4073-8700-F45896E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浅线为独立训练，粗线为三种子均值。三个图使用相同纵轴尺度</a:t>
            </a:r>
          </a:p>
        </p:txBody>
      </p:sp>
    </p:spTree>
    <p:extLst>
      <p:ext uri="{BB962C8B-B14F-4D97-AF65-F5344CB8AC3E}">
        <p14:creationId xmlns:p14="http://schemas.microsoft.com/office/powerpoint/2010/main" val="1509523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FBB0F-92D3-4F81-AA0A-1B3E03C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PPO的策略、价值与优势更新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345C7-FCA0-47A3-9852-A13ADC3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261C6-0321-47D7-BE17-D14FEB3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概率比与裁剪目标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15EF7-0F63-40DD-A819-0894FA4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ρₜ = πθ(aₜ | sₜ) / πold(aₜ | sₜ)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CCEA5-8ABE-4E10-90C3-58EF2154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Lpolicy = −E[min(ρₜÂₜ, clip(ρₜ, 0.8, 1.2)Âₜ)]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89206-7E2D-40F7-BD87-B5DCF57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优势估计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19468-F951-4443-B157-F018D67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572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δₜ = rₜ + γ(1−dₜ)V(sₜ₊₁) − V(sₜ)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Âₜ = Σₗ (γλ)ˡ δₜ₊ₗ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7E424-BC1A-40D4-9721-84E1457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71875"/>
            <a:ext cx="494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总损失与反向更新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BD342-F26C-4108-9779-4A028D6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62425"/>
            <a:ext cx="4943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L = Lpolicy + 0.5 Lvalue − 0.01 H</a:t>
            </a:r>
          </a:p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共享骨干、Actor、Critic一起更新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2CD4-5C85-4528-97F2-C931ADBA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γ=0.99，λ=0.95。Lvalue自身含0.5及价值裁剪，旧概率与优势停止梯度</a:t>
            </a:r>
          </a:p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真实终止屏蔽bootstrap，任何回合重置都停止GAE跨回合递推</a:t>
            </a:r>
          </a:p>
        </p:txBody>
      </p:sp>
    </p:spTree>
    <p:extLst>
      <p:ext uri="{BB962C8B-B14F-4D97-AF65-F5344CB8AC3E}">
        <p14:creationId xmlns:p14="http://schemas.microsoft.com/office/powerpoint/2010/main" val="269538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8DED0-9C11-4065-806D-E5E988D9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当前窗口的保留地图结果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9C972-0FD0-4D68-9153-2DA5472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00472AC-D106-4FE2-9E83-E80C57DF6B79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521017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8fb318cab24f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116A1-65FD-47EE-8CCF-1BA5E43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1323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AEF74-4292-4C99-9F45-12BDB75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17207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Double DQN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CD5FB-091E-4E4E-8B6E-9EC487A6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72075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7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PPO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3BBED-6487-48FE-A289-E1516EC3E8BC}"/>
              </a:ext>
            </a:extLst>
          </p:cNvPr>
          <p:cNvGraphicFramePr/>
          <p:nvPr/>
        </p:nvGraphicFramePr>
        <p:xfrm>
          <a:off xmlns:a="http://schemas.openxmlformats.org/drawingml/2006/main" x="6191250" y="1762125"/>
          <a:ext xmlns:a="http://schemas.openxmlformats.org/drawingml/2006/main" cx="531495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600325"/>
                <a:gridCol w="1095375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得分均值 ± SD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高度px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18476.5 ± 1145.6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3737.7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18584.2 ± 1969.7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3744.3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3944.8 ± 535.6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688.5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E3649-0B66-4E97-8377-C6ADB68E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5314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随机：262.5</a:t>
            </a:r>
          </a:p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物理规则参考：29765.8，仍更强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4FB7-32A8-40B1-BD61-373A86C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DQN与Double DQN仅差0.58%，本次结果不能证明普遍或显著优劣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33719-149A-4FFB-A8BA-4476650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圆点：3个训练种子各100图均分。菱形：均值。±：训练种子均分的样本SD</a:t>
            </a:r>
          </a:p>
        </p:txBody>
      </p:sp>
    </p:spTree>
    <p:extLst>
      <p:ext uri="{BB962C8B-B14F-4D97-AF65-F5344CB8AC3E}">
        <p14:creationId xmlns:p14="http://schemas.microsoft.com/office/powerpoint/2010/main" val="253773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48021-006C-45A2-9826-A5811F8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PPO速度置零消融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63336-E10E-4D02-AE24-AD611FF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5467D31-6B8D-47C7-827A-CF1CC96EC703}"/>
              </a:ext>
            </a:extLst>
          </p:cNvPr>
          <p:cNvGraphicFramePr/>
          <p:nvPr/>
        </p:nvGraphicFramePr>
        <p:xfrm>
          <a:off xmlns:a="http://schemas.openxmlformats.org/drawingml/2006/main" x="685800" y="1400175"/>
          <a:ext xmlns:a="http://schemas.openxmlformats.org/drawingml/2006/main" cx="74866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1863acca1c407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1819D-2335-4DBE-86E3-B1E4119E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152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当前窗口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A7A6A-4266-41B8-B1F8-15CB0275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76700"/>
            <a:ext cx="152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桌面窗口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9AD02-C178-49C2-A4FD-44B7F72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152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手机窗口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D3E6-862B-4E8A-8B46-108E196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14500"/>
            <a:ext cx="2676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完整观测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041E3-83E7-4416-AA2A-64677CD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66950"/>
            <a:ext cx="2676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速度置零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0DAED-7730-4966-91AC-2D038EE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2676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209维、两层128</a:t>
            </a:r>
          </a:p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同种子、同预算</a:t>
            </a:r>
          </a:p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重新训练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D3F79-FE42-4DA7-AC30-B73D1EF323B6}"/>
              </a:ext>
            </a:extLst>
          </p:cNvPr>
          <p:cNvGraphicFramePr/>
          <p:nvPr/>
        </p:nvGraphicFramePr>
        <p:xfrm>
          <a:off xmlns:a="http://schemas.openxmlformats.org/drawingml/2006/main" x="685800" y="4629150"/>
          <a:ext xmlns:a="http://schemas.openxmlformats.org/drawingml/2006/main" cx="108204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952750"/>
                <a:gridCol w="2886075"/>
                <a:gridCol w="2886075"/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完整观测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3944.8 ± 535.6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3021.7 ± 283.6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3726.1 ± 188.7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速度置零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4052.2 ± 184.4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2683.1 ± 352.4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3518.9 ± 444.2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32802-4512-4731-B7FD-9C49BF5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原窗口均值增加107.5分，跨窗口结果没有一致方向，三种子不能建立普遍结论</a:t>
            </a:r>
          </a:p>
        </p:txBody>
      </p:sp>
    </p:spTree>
    <p:extLst>
      <p:ext uri="{BB962C8B-B14F-4D97-AF65-F5344CB8AC3E}">
        <p14:creationId xmlns:p14="http://schemas.microsoft.com/office/powerpoint/2010/main" val="1173342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ABB52-8051-49E9-8A61-5AD3A106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原版窗口缩放下的测试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20B5-175B-49DC-BE0C-554BC03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10B197D-0525-4918-BA77-2908D81D8E04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9f2af352c44287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8CBB3-C8D8-433A-8BC2-9D6586FC23A1}"/>
              </a:ext>
            </a:extLst>
          </p:cNvPr>
          <p:cNvGraphicFramePr/>
          <p:nvPr/>
        </p:nvGraphicFramePr>
        <p:xfrm>
          <a:off xmlns:a="http://schemas.openxmlformats.org/drawingml/2006/main" x="685800" y="4486275"/>
          <a:ext xmlns:a="http://schemas.openxmlformats.org/drawingml/2006/main" cx="108204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52750"/>
                <a:gridCol w="2952750"/>
                <a:gridCol w="291465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± SD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手机窗口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18476.5 ± 1145.6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19203.0 ± 743.4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14150.9 ± 1447.4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18584.2 ± 1969.7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16636.5 ± 1931.6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14735.1 ± 1057.8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3944.8 ± 535.6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3021.7 ± 283.6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3726.1 ± 188.7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17C2B-DDD6-40B3-8D49-608BD32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窗口同时改变尺度与初始布局。跨窗口分数不代表统一难度，应在同窗口比较算法</a:t>
            </a:r>
          </a:p>
        </p:txBody>
      </p:sp>
    </p:spTree>
    <p:extLst>
      <p:ext uri="{BB962C8B-B14F-4D97-AF65-F5344CB8AC3E}">
        <p14:creationId xmlns:p14="http://schemas.microsoft.com/office/powerpoint/2010/main" val="11585853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3D960-0630-4A86-AF28-4752098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真实推理与失败回合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48085-5A3E-402E-A4A8-3FE04039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F9FA-FF53-44EB-859A-69CD3F277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e36ae1fe4b8c"/>
          <a:stretch xmlns:a="http://schemas.openxmlformats.org/drawingml/2006/main"/>
        </p:blipFill>
        <p:spPr>
          <a:xfrm xmlns:a="http://schemas.openxmlformats.org/drawingml/2006/main">
            <a:off x="690623" y="1685925"/>
            <a:ext cx="2857380" cy="36480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BCA79-EDC6-4356-91C3-5F5A8BBE9A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7035bbb34697"/>
          <a:stretch xmlns:a="http://schemas.openxmlformats.org/drawingml/2006/main"/>
        </p:blipFill>
        <p:spPr>
          <a:xfrm xmlns:a="http://schemas.openxmlformats.org/drawingml/2006/main">
            <a:off x="3900548" y="1685925"/>
            <a:ext cx="2857380" cy="3648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34DDE-8CDB-4238-B5AF-BB0E50C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2867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当前帧：1792分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5DF20-0372-4224-A653-5EDEB35D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476875"/>
            <a:ext cx="2867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当前帧：810分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5F803-8910-459C-8FB2-37010A8C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1925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同一DQN真实权重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D79C7-5B46-4F66-AC15-E5B05C7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验证演示回合</a:t>
            </a:r>
          </a:p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最终41949分，上升8619.2px</a:t>
            </a:r>
          </a:p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种子10019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DA951-4ED4-49A2-B17B-83C6C8D7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29075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失败回合</a:t>
            </a:r>
          </a:p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最终1565分，上升127.2px</a:t>
            </a:r>
          </a:p>
          <a:p xmlns:a="http://schemas.openxmlformats.org/drawingml/2006/main">
            <a:pPr algn="l">
              <a:def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种子10000，黑洞死亡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88028-87DE-457B-AA21-B12673F7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模型按验证成绩选择。中途截图与最终成绩分别标注，演示案例不能替代平均成绩</a:t>
            </a:r>
          </a:p>
        </p:txBody>
      </p:sp>
    </p:spTree>
    <p:extLst>
      <p:ext uri="{BB962C8B-B14F-4D97-AF65-F5344CB8AC3E}">
        <p14:creationId xmlns:p14="http://schemas.microsoft.com/office/powerpoint/2010/main" val="1532592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8AF13-0912-4D86-A5FF-4416073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本次结论与四人分工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0A002-10DA-48BE-9490-4CFE4A18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030A6-BA26-4376-B01F-99E43882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9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DQN与Double DQN接近，PPO在本预算下较弱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AD80F-525D-42A2-A2B0-D142B5F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规则参考仍更强，三种子不足以推断普遍优劣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617E9-075D-4C27-84B3-C42CF3D45415}"/>
              </a:ext>
            </a:extLst>
          </p:cNvPr>
          <p:cNvGraphicFramePr/>
          <p:nvPr/>
        </p:nvGraphicFramePr>
        <p:xfrm>
          <a:off xmlns:a="http://schemas.openxmlformats.org/drawingml/2006/main" x="685800" y="3114675"/>
          <a:ext xmlns:a="http://schemas.openxmlformats.org/drawingml/2006/main" cx="108204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6915150"/>
                <a:gridCol w="2667000"/>
              </a:tblGrid>
              <a:tr h="5295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模块与交付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主讲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原版环境、观测与一致性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1–4页，3:15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DQN、训练与曲线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5–8页，3:15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/ GAE、主结果与速度消融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9–11页，3:15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窗口评测、真实推理、报告与汇报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12–14页，3:15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3049-0BBC-4849-B1EE-A0C99966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后续：更多训练种子、独立奖励实验、带记忆策略。姓名和真实贡献由成员确认</a:t>
            </a:r>
          </a:p>
        </p:txBody>
      </p:sp>
    </p:spTree>
    <p:extLst>
      <p:ext uri="{BB962C8B-B14F-4D97-AF65-F5344CB8AC3E}">
        <p14:creationId xmlns:p14="http://schemas.microsoft.com/office/powerpoint/2010/main" val="56523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F3008-86EA-490E-9033-7A089BE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附录：超参数与实际训练设备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DB725-5D9B-46A8-9088-8BA6BECB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91B2-FF06-4BC7-8D62-68507EA1D215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105275"/>
                <a:gridCol w="4352925"/>
              </a:tblGrid>
              <a:tr h="5442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/ 参数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209–128–128–3 / 43779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共享128–128 / 43908含价值头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 / γ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 / 0.99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0.0003 / 0.99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更新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回放100k，batch128，每4决策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8环境×128步，4轮，batch256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/ 优势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目标网络每2000决策同步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λ0.95，clip0.2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 / 正则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ε 1降到0.05，60万决策退火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熵系数0.01，value_coef0.5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 / 选点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每次100万，每5万验证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每次100万，约每5万验证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D2A95-A657-44F0-9B3F-D1979F0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i7-12700H / 16GB，正式CPU三进程，每进程1线程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C212-DA59-4335-9C93-045698F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含验证的训练分钟数：DQN 11.9–16.9，Double DQN 10.3–18.0，PPO 5.0–8.0</a:t>
            </a:r>
          </a:p>
        </p:txBody>
      </p:sp>
    </p:spTree>
    <p:extLst>
      <p:ext uri="{BB962C8B-B14F-4D97-AF65-F5344CB8AC3E}">
        <p14:creationId xmlns:p14="http://schemas.microsoft.com/office/powerpoint/2010/main" val="2852432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8D9F9-02E9-4320-B5F5-F2076D08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附录：旧模型在同一当前窗口复测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7A83-5FD8-44C3-879D-579F4ED1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8932-CFF9-45C9-9DB9-58FB128D7942}"/>
              </a:ext>
            </a:extLst>
          </p:cNvPr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29125"/>
                <a:gridCol w="4391025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旧模型：当前窗口均值 ± SD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重训：当前窗口均值 ± SD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2511.2 ± 543.8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18476.5 ± 1145.6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2988.0 ± 1280.5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18584.2 ± 1969.7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2433.7 ± 498.1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3944.8 ± 535.6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A3155-B259-4388-A7A4-4BF7823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旧新评测窗口与测试地图相同，参数量保持不变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8E7CB-09B6-4A8F-98C7-B2C3205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旧训练405×720，新训练683×871，存在训练分布与窗口混杂</a:t>
            </a:r>
          </a:p>
          <a:p xmlns:a="http://schemas.openxmlformats.org/drawingml/2006/main">
            <a:pPr algn="l">
              <a:def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仅报告整次重训的变化，不能归因单一因素</a:t>
            </a:r>
          </a:p>
        </p:txBody>
      </p:sp>
    </p:spTree>
    <p:extLst>
      <p:ext uri="{BB962C8B-B14F-4D97-AF65-F5344CB8AC3E}">
        <p14:creationId xmlns:p14="http://schemas.microsoft.com/office/powerpoint/2010/main" val="4008011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E24E8-2ED9-4755-82D2-7572FBE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附录：输入向量的精确字段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6F0B-F17F-4A3F-B9EA-CE3BA7C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6C976-EE53-4FA1-A719-0345BB7A574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8801100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字段（按输入顺序）</a:t>
                      </a:r>
                    </a:p>
                  </a:txBody>
                  <a:tcPr marL="91440" marR="91440" marT="45720" marB="45720">
                    <a:solidFill>
                      <a:srgbClr val="E5EAD9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 5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2x/W−1，y/H，vx/speed，vy/superjump，(当前上升−历史最高)/H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 10 × 20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wrapΔx/W，Δy/H，pw/W，移动vx/2，普通/移动/易碎one-hot</a:t>
                      </a:r>
                    </a:p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springed，弹簧相对偏移/W，mask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黑洞 4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8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wrapΔx/W，Δy/H，30/W，mask</a:t>
                      </a:r>
                    </a:p>
                  </a:txBody>
                  <a:tcPr marL="91440" marR="91440" marT="45720" marB="45720">
                    <a:solidFill>
                      <a:srgbClr val="F7F5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1A2B0-B089-4E1B-84F9-0E1A3B0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平台按 |Δy| 排序，最多20个，缺失槽补零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A5BCC-A292-45A7-A707-50E86CB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读取局部游戏结构，不读取未来地图、随机数状态或目标动作</a:t>
            </a:r>
          </a:p>
          <a:p xmlns:a="http://schemas.openxmlformats.org/drawingml/2006/main">
            <a:pPr algn="l">
              <a:def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无记忆观测不构成完整Markov状态，尚未使用像素或循环网络</a:t>
            </a:r>
          </a:p>
        </p:txBody>
      </p:sp>
    </p:spTree>
    <p:extLst>
      <p:ext uri="{BB962C8B-B14F-4D97-AF65-F5344CB8AC3E}">
        <p14:creationId xmlns:p14="http://schemas.microsoft.com/office/powerpoint/2010/main" val="14646901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D8EC7-43DE-41F6-8554-35BF259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附录：原版、部署证据与共享入口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44593-7175-438D-BAE0-5AAB707C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E42AA-6F81-484C-BDE3-3E0F05ED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4981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原版一致性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CE355-95D7-43A0-A881-DAE3ECCB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911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21个原文件SHA256全部匹配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原JS对照81803帧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当前真实浏览器对照4202帧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C9EE-82FB-4CA9-BD10-8434F60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33525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模型部署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FB612-26C6-4BB4-92F2-181F622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38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12模型 × 360观测 = 4320组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PyTorch与浏览器动作差异0</a:t>
            </a:r>
          </a:p>
          <a:p xmlns:a="http://schemas.openxmlformats.org/drawingml/2006/main">
            <a:pPr algn="l">
              <a:def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7项特殊案例、5项算法边界单测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F8F1F-B939-4D02-9526-B2B2956F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共享仓库与运行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88EC9-863D-494E-90D7-7F19EC5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https://github.com/25zs25/DoodleJump-RL-CourseProject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9D7B3-9DE0-4ACA-8B05-F8672FA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82E"/>
                </a:solidFill>
                <a:latin typeface="Microsoft YaHei"/>
                <a:ea typeface="Microsoft YaHei"/>
                <a:cs typeface="Microsoft YaHei"/>
              </a:rPr>
              <a:t>试玩：start_game.cmd    复现：README.md / retrain_native.py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81E97-59A6-482B-92E0-3E2F06B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来源：DQN 2013，Double DQN 2015，PPO 2017，GAE 2015</a:t>
            </a:r>
          </a:p>
          <a:p xmlns:a="http://schemas.openxmlformats.org/drawingml/2006/main">
            <a:pPr algn="l">
              <a:def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6B"/>
                </a:solidFill>
                <a:latin typeface="Microsoft YaHei"/>
                <a:ea typeface="Microsoft YaHei"/>
                <a:cs typeface="Microsoft YaHei"/>
              </a:rPr>
              <a:t>保留原MIT代码声明，第三方图像与音效来源见 PROVENANCE / THIRD_PARTY_NOTICES</a:t>
            </a:r>
          </a:p>
        </p:txBody>
      </p:sp>
    </p:spTree>
    <p:extLst>
      <p:ext uri="{BB962C8B-B14F-4D97-AF65-F5344CB8AC3E}">
        <p14:creationId xmlns:p14="http://schemas.microsoft.com/office/powerpoint/2010/main" val="883887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2026-10-09T01:17:44.0910000Z</dcterms:created>
  <dcterms:modified xsi:type="dcterms:W3CDTF">2026-10-09T01:17:44.0910000Z</dcterms:modified>
</coreProperties>
</file>