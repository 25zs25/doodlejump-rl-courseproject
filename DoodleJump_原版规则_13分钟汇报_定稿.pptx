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56abc5a9db45e3" /><Relationship Type="http://schemas.openxmlformats.org/officeDocument/2006/relationships/extended-properties" Target="/docProps/app.xml" Id="R7510448cb3684a7a" /><Relationship Type="http://schemas.openxmlformats.org/officeDocument/2006/relationships/officeDocument" Target="/ppt/presentation.xml" Id="R20a024906bb845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8d188fa78943ee"/>
  </p:sldMasterIdLst>
  <p:notesMasterIdLst>
    <p:notesMasterId xmlns:r="http://schemas.openxmlformats.org/officeDocument/2006/relationships" r:id="R1ad1fd552ec84972"/>
  </p:notesMasterIdLst>
  <p:sldIdLst>
    <p:sldId xmlns:r="http://schemas.openxmlformats.org/officeDocument/2006/relationships" id="256" r:id="Rdfc4ed676265421f"/>
    <p:sldId xmlns:r="http://schemas.openxmlformats.org/officeDocument/2006/relationships" id="257" r:id="R8443386ffc5541b5"/>
    <p:sldId xmlns:r="http://schemas.openxmlformats.org/officeDocument/2006/relationships" id="258" r:id="R6b26129fd75e4097"/>
    <p:sldId xmlns:r="http://schemas.openxmlformats.org/officeDocument/2006/relationships" id="259" r:id="R148a719102464975"/>
    <p:sldId xmlns:r="http://schemas.openxmlformats.org/officeDocument/2006/relationships" id="260" r:id="R9dae15979951433e"/>
    <p:sldId xmlns:r="http://schemas.openxmlformats.org/officeDocument/2006/relationships" id="261" r:id="R5a4dd367a07d4c33"/>
    <p:sldId xmlns:r="http://schemas.openxmlformats.org/officeDocument/2006/relationships" id="262" r:id="R49a0d59f3fa84480"/>
    <p:sldId xmlns:r="http://schemas.openxmlformats.org/officeDocument/2006/relationships" id="263" r:id="R7cee975b7a8a46a8"/>
    <p:sldId xmlns:r="http://schemas.openxmlformats.org/officeDocument/2006/relationships" id="264" r:id="R305061af5f174148"/>
    <p:sldId xmlns:r="http://schemas.openxmlformats.org/officeDocument/2006/relationships" id="265" r:id="Rd8601f3a04f84cd9"/>
    <p:sldId xmlns:r="http://schemas.openxmlformats.org/officeDocument/2006/relationships" id="266" r:id="R0ab592fd8ffd4053"/>
    <p:sldId xmlns:r="http://schemas.openxmlformats.org/officeDocument/2006/relationships" id="267" r:id="R20551e68194c4f75"/>
    <p:sldId xmlns:r="http://schemas.openxmlformats.org/officeDocument/2006/relationships" id="268" r:id="Rea3d7bf14e1348e4"/>
    <p:sldId xmlns:r="http://schemas.openxmlformats.org/officeDocument/2006/relationships" id="269" r:id="R0b30875e25664c88"/>
    <p:sldId xmlns:r="http://schemas.openxmlformats.org/officeDocument/2006/relationships" id="270" r:id="R278fdd13e5a74d6e"/>
    <p:sldId xmlns:r="http://schemas.openxmlformats.org/officeDocument/2006/relationships" id="271" r:id="R11991047ecbb4e86"/>
    <p:sldId xmlns:r="http://schemas.openxmlformats.org/officeDocument/2006/relationships" id="272" r:id="R50d4d10f0db143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67429f4dcb4eab" /><Relationship Type="http://schemas.openxmlformats.org/officeDocument/2006/relationships/slideMaster" Target="/ppt/slideMasters/slideMaster1.xml" Id="R068d188fa78943ee" /><Relationship Type="http://schemas.openxmlformats.org/officeDocument/2006/relationships/notesMaster" Target="/ppt/notesMasters/notesMaster1.xml" Id="R1ad1fd552ec84972" /><Relationship Type="http://schemas.openxmlformats.org/officeDocument/2006/relationships/presProps" Target="/ppt/presProps.xml" Id="R2baa8fa42ab64501" /><Relationship Type="http://schemas.openxmlformats.org/officeDocument/2006/relationships/tableStyles" Target="/ppt/tableStyles.xml" Id="Rbc618ecb555c4461" /><Relationship Type="http://schemas.openxmlformats.org/officeDocument/2006/relationships/slide" Target="/ppt/slides/slide1.xml" Id="Rdfc4ed676265421f" /><Relationship Type="http://schemas.openxmlformats.org/officeDocument/2006/relationships/slide" Target="/ppt/slides/slide2.xml" Id="R8443386ffc5541b5" /><Relationship Type="http://schemas.openxmlformats.org/officeDocument/2006/relationships/slide" Target="/ppt/slides/slide3.xml" Id="R6b26129fd75e4097" /><Relationship Type="http://schemas.openxmlformats.org/officeDocument/2006/relationships/slide" Target="/ppt/slides/slide4.xml" Id="R148a719102464975" /><Relationship Type="http://schemas.openxmlformats.org/officeDocument/2006/relationships/slide" Target="/ppt/slides/slide5.xml" Id="R9dae15979951433e" /><Relationship Type="http://schemas.openxmlformats.org/officeDocument/2006/relationships/slide" Target="/ppt/slides/slide6.xml" Id="R5a4dd367a07d4c33" /><Relationship Type="http://schemas.openxmlformats.org/officeDocument/2006/relationships/slide" Target="/ppt/slides/slide7.xml" Id="R49a0d59f3fa84480" /><Relationship Type="http://schemas.openxmlformats.org/officeDocument/2006/relationships/slide" Target="/ppt/slides/slide8.xml" Id="R7cee975b7a8a46a8" /><Relationship Type="http://schemas.openxmlformats.org/officeDocument/2006/relationships/slide" Target="/ppt/slides/slide9.xml" Id="R305061af5f174148" /><Relationship Type="http://schemas.openxmlformats.org/officeDocument/2006/relationships/slide" Target="/ppt/slides/slide10.xml" Id="Rd8601f3a04f84cd9" /><Relationship Type="http://schemas.openxmlformats.org/officeDocument/2006/relationships/slide" Target="/ppt/slides/slide11.xml" Id="R0ab592fd8ffd4053" /><Relationship Type="http://schemas.openxmlformats.org/officeDocument/2006/relationships/slide" Target="/ppt/slides/slide12.xml" Id="R20551e68194c4f75" /><Relationship Type="http://schemas.openxmlformats.org/officeDocument/2006/relationships/slide" Target="/ppt/slides/slide13.xml" Id="Rea3d7bf14e1348e4" /><Relationship Type="http://schemas.openxmlformats.org/officeDocument/2006/relationships/slide" Target="/ppt/slides/slide14.xml" Id="R0b30875e25664c88" /><Relationship Type="http://schemas.openxmlformats.org/officeDocument/2006/relationships/slide" Target="/ppt/slides/slide15.xml" Id="R278fdd13e5a74d6e" /><Relationship Type="http://schemas.openxmlformats.org/officeDocument/2006/relationships/slide" Target="/ppt/slides/slide16.xml" Id="R11991047ecbb4e86" /><Relationship Type="http://schemas.openxmlformats.org/officeDocument/2006/relationships/slide" Target="/ppt/slides/slide17.xml" Id="R50d4d10f0db143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77d450128047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9e03a5e46c43cb" /><Relationship Type="http://schemas.openxmlformats.org/officeDocument/2006/relationships/notesMaster" Target="/ppt/notesMasters/notesMaster1.xml" Id="R9532e820aa0044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7b632cf3604e03" /><Relationship Type="http://schemas.openxmlformats.org/officeDocument/2006/relationships/notesMaster" Target="/ppt/notesMasters/notesMaster1.xml" Id="Ra892eaedc4204f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6aa0bba0e349ca" /><Relationship Type="http://schemas.openxmlformats.org/officeDocument/2006/relationships/notesMaster" Target="/ppt/notesMasters/notesMaster1.xml" Id="Re8b3844d220546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b36c60dc6a41c7" /><Relationship Type="http://schemas.openxmlformats.org/officeDocument/2006/relationships/notesMaster" Target="/ppt/notesMasters/notesMaster1.xml" Id="R12684b325ce247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49d18022694f0f" /><Relationship Type="http://schemas.openxmlformats.org/officeDocument/2006/relationships/notesMaster" Target="/ppt/notesMasters/notesMaster1.xml" Id="Rc434f20e354d41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7bb0b96ded42c8" /><Relationship Type="http://schemas.openxmlformats.org/officeDocument/2006/relationships/notesMaster" Target="/ppt/notesMasters/notesMaster1.xml" Id="Rd497bd31ae414d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2d60a6cef44e57" /><Relationship Type="http://schemas.openxmlformats.org/officeDocument/2006/relationships/notesMaster" Target="/ppt/notesMasters/notesMaster1.xml" Id="Ra1128619c97344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9f0e15829447e4" /><Relationship Type="http://schemas.openxmlformats.org/officeDocument/2006/relationships/notesMaster" Target="/ppt/notesMasters/notesMaster1.xml" Id="R1eb385f009fe4e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b33a87ba4d44b8" /><Relationship Type="http://schemas.openxmlformats.org/officeDocument/2006/relationships/notesMaster" Target="/ppt/notesMasters/notesMaster1.xml" Id="R3d9e13cf44b54e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247c07aa7b460d" /><Relationship Type="http://schemas.openxmlformats.org/officeDocument/2006/relationships/notesMaster" Target="/ppt/notesMasters/notesMaster1.xml" Id="R11c210a09cca49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67c56c68a84bb2" /><Relationship Type="http://schemas.openxmlformats.org/officeDocument/2006/relationships/notesMaster" Target="/ppt/notesMasters/notesMaster1.xml" Id="R0226509f2ecd43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0298e47a00432c" /><Relationship Type="http://schemas.openxmlformats.org/officeDocument/2006/relationships/notesMaster" Target="/ppt/notesMasters/notesMaster1.xml" Id="R7e983580e6984a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70646d9c7c4043" /><Relationship Type="http://schemas.openxmlformats.org/officeDocument/2006/relationships/notesMaster" Target="/ppt/notesMasters/notesMaster1.xml" Id="Ra883a0b9a03349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971c25e44d4bca" /><Relationship Type="http://schemas.openxmlformats.org/officeDocument/2006/relationships/notesMaster" Target="/ppt/notesMasters/notesMaster1.xml" Id="Raba1f008a72a46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c0d09e356b4f18" /><Relationship Type="http://schemas.openxmlformats.org/officeDocument/2006/relationships/notesMaster" Target="/ppt/notesMasters/notesMaster1.xml" Id="R1c4bc9a00efd4d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cbddf3af474ad9" /><Relationship Type="http://schemas.openxmlformats.org/officeDocument/2006/relationships/notesMaster" Target="/ppt/notesMasters/notesMaster1.xml" Id="Rd0c665330df849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4d3a019d9c4365" /><Relationship Type="http://schemas.openxmlformats.org/officeDocument/2006/relationships/notesMaster" Target="/ppt/notesMasters/notesMaster1.xml" Id="Rcccb3b0f08244f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25 秒。</a:t>
            </a:r>
          </a:p>
          <a:p xmlns:a="http://schemas.openxmlformats.org/drawingml/2006/main">
            <a:r>
              <a:t>大家好，我们的项目是使用强化学习控制开源Doodle Jump。角色自动跳跃，网络学习左右移动。本次保留原版外观、物理和平台生成规则，从头训练DQN、Double DQN与PPO，并在未用于训练的地图上测试。接下来介绍原版适配、算法对照以及实际效果。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45 秒。</a:t>
            </a:r>
          </a:p>
          <a:p xmlns:a="http://schemas.openxmlformats.org/drawingml/2006/main">
            <a:r>
              <a:t>先看游戏。落到平台就自动起跳，所以只有左、不动、右三个动作。但连续控制需要预测下降时的落点。蓝色移动平台不断横向移动，白色易碎平台使用后消失，弹簧让跳跃更高、更久。横向超出边界后出现在另一侧，黑洞接近时会死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策略必须根据当前位置与速度，判断哪种动作能使未来落脚更安全。没有预先给出的路线，也没有BFS帮网络找路。平台和角色使用原仓库的图像与绘制函数。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55 秒。</a:t>
            </a:r>
          </a:p>
          <a:p xmlns:a="http://schemas.openxmlformats.org/drawingml/2006/main">
            <a:r>
              <a:t>这次最重要的工程要求是保留原版。upstream保存完整21个原文件，浏览器直接执行原引擎。适配层只增加种子、动作接口、观测、训练奖励和时间截断。地图仍是全宽独立随机，没有加入保证连通的安全平台。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训练移植需要复制原代码的实际行为，包括先碰撞再移动、顶部出生、300像素阈值，以及数组循环时同时删除添加平台。即使原代码某些行为不理想，也没有顺手修复，否则就成了另一种环境。原计分继续保留，同时记录高度，帮助判断策略是否持续攀升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55 秒。</a:t>
            </a:r>
          </a:p>
          <a:p xmlns:a="http://schemas.openxmlformats.org/drawingml/2006/main">
            <a:r>
              <a:t>输入是209维结构向量，维度就是标量数量。玩家5个标量，最多20个平台每个10个标量，原版单黑洞4个标量。平台带相对坐标、宽度、速度、类型、弹簧和有效掩码，空槽补零。有限可见对象构成局部观测，未来平台和随机数状态没有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两层128宽网络输出三种动作的Q值或概率，每次动作执行4帧。奖励是原版得分增量除以100，减少量时间代价，死亡再减1。1500次决策为时间截断，不能与真正死亡混淆。原版得分不是高度，评价时两项都记录。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60 秒。</a:t>
            </a:r>
          </a:p>
          <a:p xmlns:a="http://schemas.openxmlformats.org/drawingml/2006/main">
            <a:r>
              <a:t>DQN学习每个动作的长期价值。训练把经历存入回放缓冲，再抽取小批量更新。目标网络周期同步，用相对稳定的下一状态估计作为TD目标。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DQN在目标网络里同时选择最大动作和估计价值。带噪声估计取最大值可能导致高估。Double DQN用在线网络选动作，再由目标网络估值。我们让网络、回放、奖励和探索计划一致，只改变这一步。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这形成明确的算法对照，但减少某类估计偏差不等于每次游戏成绩更高。探索、局部观测和训练预算仍会影响最终结果。死亡屏蔽bootstrap，时间截断保留下一状态价值。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https://arxiv.org/abs/1312.5602</a:t>
            </a:r>
          </a:p>
          <a:p xmlns:a="http://schemas.openxmlformats.org/drawingml/2006/main">
            <a:r>
              <a:t>https://arxiv.org/abs/1509.06461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60 秒。</a:t>
            </a:r>
          </a:p>
          <a:p xmlns:a="http://schemas.openxmlformats.org/drawingml/2006/main">
            <a:r>
              <a:t>PPO直接学习动作概率。Actor给出三种动作的分布，Critic估计状态价值，GAE将多步TD残差组合成优势，判断动作比平均水平好多少。概率比裁剪限制过大的策略改变。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这里gamma是0.99，lambda是0.95，裁剪范围0.8到1.2。采样来自当前策略，再对当前批次做多轮更新，随后重新采样。DQN可以反复使用长期旧回放，PPO的数据使用方式不同。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相同环境交互预算只是统一了拿到多少经验，并不意味着更新次数和计算量相同。我们另外记录参数量与训练时间，也处理了时限bootstrap和重置时优势不能跨回合递推的边界。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65 秒。</a:t>
            </a:r>
          </a:p>
          <a:p xmlns:a="http://schemas.openxmlformats.org/drawingml/2006/main">
            <a:r>
              <a:t>正式主实验是三算法乘三个独立训练种子，每次100万决策。速度置零消融另训练三个PPO模型，总计12次、1200万决策。全都在405乘720的原版环境训练。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20张固定验证地图用于选择检查点，之后冻结权重。在100张保留地图上测试原窗口，再测试600高和900高窗口。它们沿用原版窗口适配，不新增困难机制。主比较统一选择最大Q值或最大概率动作，PPO采样另列。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每个算法每个场景有三个训练种子各100局。表中加减是三次训练之间的标准差，不能把地图数量当成独立训练次数。测试数据没有用于调参或选模型。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55 秒。</a:t>
            </a:r>
          </a:p>
          <a:p xmlns:a="http://schemas.openxmlformats.org/drawingml/2006/main">
            <a:r>
              <a:t>这张曲线的横轴是训练决策数，纵轴是20张验证地图的原版平均得分，每个点再对三个训练种子取平均。图中每10万决策展示一次，原始文件每5万记录一次。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学习可能波动，最终检查点不一定最好，所以按预先规定的验证标准选权重。每次训练仍完成100万决策，选择较早检查点并不等于少训练。曲线来自验证地图，不是保留测试成绩。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原版分数依赖滚屏时处理的平台数，曲线上涨只能说明奖励对应的计分有所改善，不能单凭这个结论说模型已学会无限攀升。后面同时看高度和失败情况。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65 秒。</a:t>
            </a:r>
          </a:p>
          <a:p xmlns:a="http://schemas.openxmlformats.org/drawingml/2006/main">
            <a:r>
              <a:t>原窗口保留测试结果是：DQN 2114 ± 134, Double DQN 2034 ± 75, PPO 1592 ± 53。这些是三个训练种子的平均成绩以及种子间标准差。随机动作平均219，物理规则参考平均2882。规则方法读取同样的局部观测，手工计算落点，没有参与神经网络训练。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DQN在本次原窗口平均分最高，但不能据此宣称普遍更好。还要看实际上升高度与时限比例。得分可能随着滚屏处理增加，但高度较有限，这说明评价指标与持续攀升之间存在差别。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同一PPO权重改为概率采样，均分为1546 ± 87，属于独立的部署诊断，不替代统一argmax的主算法对照。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60 秒。</a:t>
            </a:r>
          </a:p>
          <a:p xmlns:a="http://schemas.openxmlformats.org/drawingml/2006/main">
            <a:r>
              <a:t>窗口测试检查训练后策略对原版缩放规则的适应能力。训练只见过720高窗口，600和900高窗口改变物理尺度与初始布局，而原版300阈值仍保持原常量。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所以这里应在同一窗口比较算法，不能把不同窗口的分数变化直接说成统一难度提高或降低。随机地图分布公式、平台类型和生成规则没有换成新机制。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每组仍是三个训练种子各100张保留地图。变化可能来自状态分布、缩放或原版边界行为，图表只报告观察结果，不把它解释成单一原因。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65 秒。</a:t>
            </a:r>
          </a:p>
          <a:p xmlns:a="http://schemas.openxmlformats.org/drawingml/2006/main">
            <a:r>
              <a:t>消融使用PPO，把玩家横向和纵向速度、移动平台速度置零。输入仍是209维，网络宽度、训练种子、预算、奖励与验证协议一致，重新训练三个模型。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原窗口完整观测得分1592 ± 53，速度置零得分1698 ± 28，均值差为106。结果并不需要符合预设的故事。三训练种子、局部观测与优化随机性会影响差异，不能直接得出速度特征必然有益或必然有害。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这个实验展示的是观测设计如何影响策略学习。更强的因果结论需要更多种子、误差分析以及配对统计。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65 秒。</a:t>
            </a:r>
          </a:p>
          <a:p xmlns:a="http://schemas.openxmlformats.org/drawingml/2006/main">
            <a:r>
              <a:t>接下来展示真实浏览器推理。默认模型为double_dqn_full_seed42_1000000，它只根据验证集选择。左图取20张验证地图中的最高分回合，种子10006，最终得分6421，最高上升约996。这里是演示案例，不能冒充平均测试成绩。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右图来自同一模型的低分死亡回合，种子10012，结束原因为blackhole。游戏没有替模型生成安全路线。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浏览器实时读取209维状态，用导出的实际网络权重控制原版角色。12组网络各360个观测与PyTorch对齐，动作没有差异。汇报时可播放约25秒GIF，或双击启动后现场选择模型和地图。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60 秒。</a:t>
            </a:r>
          </a:p>
          <a:p xmlns:a="http://schemas.openxmlformats.org/drawingml/2006/main">
            <a:r>
              <a:t>四个人按模块分工，每人约四分之一工作量。A负责原版移植与种子接口，重点解释碰撞顺序和逐帧对照。B负责DQN与Double DQN，解释回放、目标网络以及TD差异，完成六次训练。C负责PPO、GAE与速度消融，也有六次训练。D负责保留测试、逐地图统计、浏览器推理、演示与汇报材料。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每人除了本模块，还需复核相邻模块的接口和运行方式。交付保留原版源文件、配置、最佳与最终权重、学习曲线、逐局CSV、PPT与讲稿。成员姓名未提供，个人报告是技术草稿，需要按各自实际工作确认后署名。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45 秒。</a:t>
            </a:r>
          </a:p>
          <a:p xmlns:a="http://schemas.openxmlformats.org/drawingml/2006/main">
            <a:r>
              <a:t>本次原窗口DQN平均得分最高，为2114 ± 134，最高均分约是随机动作的9.7倍。我们在保留原版规则的前提下完成了环境接口、三种算法训练、速度消融及独立地图测试。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样要承认局限：原版分数和高度不等价，模型的持续攀升仍有限，三训练种子也不足以判断算法普遍优劣。当前输入是结构特征，未完成端到端视觉学习。后续可以增加种子，分析原计分带来的策略偏差，再独立建立视觉输入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答辩备用页，不计入13分钟。</a:t>
            </a:r>
          </a:p>
          <a:p xmlns:a="http://schemas.openxmlformats.org/drawingml/2006/main">
            <a:r>
              <a:t>备用页。CPU实测时间包含验证，三进程并行与系统竞争，不能视作标准硬件速度比较。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答辩备用页，不计入13分钟。</a:t>
            </a:r>
          </a:p>
          <a:p xmlns:a="http://schemas.openxmlformats.org/drawingml/2006/main">
            <a:r>
              <a:t>对照直接执行未修改的upstream游戏JavaScript，而非另一份自写移植。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答辩备用页，不计入13分钟。</a:t>
            </a:r>
          </a:p>
          <a:p xmlns:a="http://schemas.openxmlformats.org/drawingml/2006/main">
            <a:r>
              <a:t>游戏代码MIT许可保留，原README中的第三方图片和音效来源一并保留。具体来源与边界见PROVENANCE。</a:t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https://github.com/takosenpai2687/doodle-jump/tree/d4b6071813a9c1353267d53dcfa9d8abc3e5b2f4</a:t>
            </a:r>
          </a:p>
          <a:p xmlns:a="http://schemas.openxmlformats.org/drawingml/2006/main">
            <a:r>
              <a:t>https://arxiv.org/abs/1312.5602</a:t>
            </a:r>
          </a:p>
          <a:p xmlns:a="http://schemas.openxmlformats.org/drawingml/2006/main">
            <a:r>
              <a:t>https://arxiv.org/abs/1509.06461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5552f567948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2a77428e64a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633859b7745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f90d42fa947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c42ed36784f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a6e9ea8894a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BCA17D-47B8-4945-941A-A590E31BF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3C1931-54B1-46FF-8900-EA5E038447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816F39-0701-4D4D-980E-955F370B40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CF8C87-2FFF-4DA6-9F56-54E62D48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9A399B-8DB6-489A-9069-7AE26AB2AC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CE5921-ADC2-4D65-87EF-24452CEDA5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36DF84-7CC3-4AAE-9338-DAC73F6253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47FE92-1EBD-4DE1-B6F6-D533012C4B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917F07-C174-4CB8-9466-50CB08E2B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9854ED-18D8-4FA5-B695-9C98BA9784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8c4f031bf14a32" /><Relationship Type="http://schemas.openxmlformats.org/officeDocument/2006/relationships/slideLayout" Target="/ppt/slideLayouts/slideLayout1.xml" Id="R2120dbac274b4c4c" /><Relationship Type="http://schemas.openxmlformats.org/officeDocument/2006/relationships/slideLayout" Target="/ppt/slideLayouts/slideLayout2.xml" Id="R49caaa37a15e41f0" /><Relationship Type="http://schemas.openxmlformats.org/officeDocument/2006/relationships/slideLayout" Target="/ppt/slideLayouts/slideLayout3.xml" Id="Rd95e05db26a84424" /><Relationship Type="http://schemas.openxmlformats.org/officeDocument/2006/relationships/slideLayout" Target="/ppt/slideLayouts/slideLayout4.xml" Id="Re4e6cfff5a514c7d" /><Relationship Type="http://schemas.openxmlformats.org/officeDocument/2006/relationships/slideLayout" Target="/ppt/slideLayouts/slideLayout5.xml" Id="R3d837dd3d6674da6" /><Relationship Type="http://schemas.openxmlformats.org/officeDocument/2006/relationships/slideLayout" Target="/ppt/slideLayouts/slideLayout6.xml" Id="Re12a79821f294b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20dbac274b4c4c"/>
    <p:sldLayoutId xmlns:r="http://schemas.openxmlformats.org/officeDocument/2006/relationships" id="2147483650" r:id="R49caaa37a15e41f0"/>
    <p:sldLayoutId xmlns:r="http://schemas.openxmlformats.org/officeDocument/2006/relationships" id="2147483651" r:id="Rd95e05db26a84424"/>
    <p:sldLayoutId xmlns:r="http://schemas.openxmlformats.org/officeDocument/2006/relationships" id="2147483652" r:id="Re4e6cfff5a514c7d"/>
    <p:sldLayoutId xmlns:r="http://schemas.openxmlformats.org/officeDocument/2006/relationships" id="2147483653" r:id="R3d837dd3d6674da6"/>
    <p:sldLayoutId xmlns:r="http://schemas.openxmlformats.org/officeDocument/2006/relationships" id="2147483654" r:id="Re12a79821f294b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0ea5b40be4907" /><Relationship Type="http://schemas.openxmlformats.org/officeDocument/2006/relationships/image" Target="/ppt/media/image.png" Id="Ra5f6b8ae781b4cf3" /><Relationship Type="http://schemas.openxmlformats.org/officeDocument/2006/relationships/notesSlide" Target="/ppt/notesSlides/notesSlide1.xml" Id="R17c801e079e84e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ab0e6fed84bb4" /><Relationship Type="http://schemas.openxmlformats.org/officeDocument/2006/relationships/image" Target="/ppt/media/image2.png" Id="R7897790aab96480e" /><Relationship Type="http://schemas.openxmlformats.org/officeDocument/2006/relationships/notesSlide" Target="/ppt/notesSlides/notesSlide2.xml" Id="Rccf5da8bf05d4c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85abbd2cf9466f" /><Relationship Type="http://schemas.openxmlformats.org/officeDocument/2006/relationships/notesSlide" Target="/ppt/notesSlides/notesSlide3.xml" Id="R8a4e1e41063342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16561bd8e4e68" /><Relationship Type="http://schemas.openxmlformats.org/officeDocument/2006/relationships/notesSlide" Target="/ppt/notesSlides/notesSlide4.xml" Id="R21783875c28848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6dc9b7b69473b" /><Relationship Type="http://schemas.openxmlformats.org/officeDocument/2006/relationships/notesSlide" Target="/ppt/notesSlides/notesSlide5.xml" Id="R9ab91680a6d844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bd762817a49f3" /><Relationship Type="http://schemas.openxmlformats.org/officeDocument/2006/relationships/notesSlide" Target="/ppt/notesSlides/notesSlide6.xml" Id="Re2aa84188b5b4e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60c845de6422a" /><Relationship Type="http://schemas.openxmlformats.org/officeDocument/2006/relationships/notesSlide" Target="/ppt/notesSlides/notesSlide7.xml" Id="Rc4ec5a24dfb341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fe99ccfcc490d" /><Relationship Type="http://schemas.openxmlformats.org/officeDocument/2006/relationships/chart" Target="/ppt/slides/charts/chart1.xml" Id="R3c69918c9cbb485f" /><Relationship Type="http://schemas.openxmlformats.org/officeDocument/2006/relationships/notesSlide" Target="/ppt/notesSlides/notesSlide8.xml" Id="Rfe0a41aa4d0a48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cbc6f919e45b4" /><Relationship Type="http://schemas.openxmlformats.org/officeDocument/2006/relationships/notesSlide" Target="/ppt/notesSlides/notesSlide9.xml" Id="Radd6382a086444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77664227d4fd8" /><Relationship Type="http://schemas.openxmlformats.org/officeDocument/2006/relationships/chart" Target="/ppt/slides/charts/chart2.xml" Id="Ra2ba1ee392ca4752" /><Relationship Type="http://schemas.openxmlformats.org/officeDocument/2006/relationships/notesSlide" Target="/ppt/notesSlides/notesSlide10.xml" Id="R2f57864cd7ad4d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309c20d6654972" /><Relationship Type="http://schemas.openxmlformats.org/officeDocument/2006/relationships/notesSlide" Target="/ppt/notesSlides/notesSlide11.xml" Id="R46bc5be41ce04d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d2d2e2366b4134" /><Relationship Type="http://schemas.openxmlformats.org/officeDocument/2006/relationships/image" Target="/ppt/media/image3.png" Id="R78f47cd9756849ac" /><Relationship Type="http://schemas.openxmlformats.org/officeDocument/2006/relationships/image" Target="/ppt/media/image4.png" Id="R80426764024442b5" /><Relationship Type="http://schemas.openxmlformats.org/officeDocument/2006/relationships/notesSlide" Target="/ppt/notesSlides/notesSlide12.xml" Id="R03d86410375e49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cce07587944f4" /><Relationship Type="http://schemas.openxmlformats.org/officeDocument/2006/relationships/notesSlide" Target="/ppt/notesSlides/notesSlide13.xml" Id="Rc8fcb76236e641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607850cf5473f" /><Relationship Type="http://schemas.openxmlformats.org/officeDocument/2006/relationships/notesSlide" Target="/ppt/notesSlides/notesSlide14.xml" Id="Rc9b6f658c3e048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4d69e3781b44ee" /><Relationship Type="http://schemas.openxmlformats.org/officeDocument/2006/relationships/notesSlide" Target="/ppt/notesSlides/notesSlide15.xml" Id="Rb8b33e020fc946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955633f1f4374" /><Relationship Type="http://schemas.openxmlformats.org/officeDocument/2006/relationships/notesSlide" Target="/ppt/notesSlides/notesSlide16.xml" Id="R0bb3300fe3f645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d2315da884cb9" /><Relationship Type="http://schemas.openxmlformats.org/officeDocument/2006/relationships/notesSlide" Target="/ppt/notesSlides/notesSlide17.xml" Id="R6b23c42a17d24ce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DQN</c:v>
          </c:tx>
          <c:spPr>
            <a:ln xmlns:a="http://schemas.openxmlformats.org/drawingml/2006/main" w="38100">
              <a:solidFill>
                <a:srgbClr val="BC7C30"/>
              </a:solidFill>
              <a:prstDash val="solid"/>
            </a:ln>
          </c:spPr>
          <c:marker>
            <c:symbol val="circle"/>
            <c:size val="6"/>
          </c:marker>
          <c:cat>
            <c:strRef>
              <c:f>'Chart Data'!$A$2:$A$11</c:f>
              <c:strCache>
                <c:ptCount val="10"/>
                <c:pt idx="0">
                  <c:v>10万</c:v>
                </c:pt>
                <c:pt idx="1">
                  <c:v>20万</c:v>
                </c:pt>
                <c:pt idx="2">
                  <c:v>30万</c:v>
                </c:pt>
                <c:pt idx="3">
                  <c:v>40万</c:v>
                </c:pt>
                <c:pt idx="4">
                  <c:v>50万</c:v>
                </c:pt>
                <c:pt idx="5">
                  <c:v>60万</c:v>
                </c:pt>
                <c:pt idx="6">
                  <c:v>70万</c:v>
                </c:pt>
                <c:pt idx="7">
                  <c:v>80万</c:v>
                </c:pt>
                <c:pt idx="8">
                  <c:v>90万</c:v>
                </c:pt>
                <c:pt idx="9">
                  <c:v>100万</c:v>
                </c:pt>
              </c:strCache>
            </c:strRef>
          </c:cat>
          <c:val>
            <c:numRef>
              <c:f>'Chart Data'!$B$2:$B$11</c:f>
              <c:numCache>
                <c:formatCode>0</c:formatCode>
                <c:ptCount val="10"/>
                <c:pt idx="0">
                  <c:v>821.933</c:v>
                </c:pt>
                <c:pt idx="1">
                  <c:v>1895.733</c:v>
                </c:pt>
                <c:pt idx="2">
                  <c:v>1800.333</c:v>
                </c:pt>
                <c:pt idx="3">
                  <c:v>1779.983</c:v>
                </c:pt>
                <c:pt idx="4">
                  <c:v>1870.95</c:v>
                </c:pt>
                <c:pt idx="5">
                  <c:v>1758.1</c:v>
                </c:pt>
                <c:pt idx="6">
                  <c:v>1845.433</c:v>
                </c:pt>
                <c:pt idx="7">
                  <c:v>1719.367</c:v>
                </c:pt>
                <c:pt idx="8">
                  <c:v>1913.733</c:v>
                </c:pt>
                <c:pt idx="9">
                  <c:v>1859.483</c:v>
                </c:pt>
              </c:numCache>
            </c:numRef>
          </c:val>
          <c:smooth val="0"/>
        </c:ser>
        <c:ser>
          <c:idx val="1"/>
          <c:order val="1"/>
          <c:tx>
            <c:v>Double DQN</c:v>
          </c:tx>
          <c:spPr>
            <a:ln xmlns:a="http://schemas.openxmlformats.org/drawingml/2006/main" w="38100">
              <a:solidFill>
                <a:srgbClr val="346F9D"/>
              </a:solidFill>
              <a:prstDash val="solid"/>
            </a:ln>
          </c:spPr>
          <c:marker>
            <c:symbol val="circle"/>
            <c:size val="6"/>
          </c:marker>
          <c:cat>
            <c:strRef>
              <c:f>'Chart Data'!$C$2:$C$11</c:f>
              <c:strCache>
                <c:ptCount val="10"/>
                <c:pt idx="0">
                  <c:v>10万</c:v>
                </c:pt>
                <c:pt idx="1">
                  <c:v>20万</c:v>
                </c:pt>
                <c:pt idx="2">
                  <c:v>30万</c:v>
                </c:pt>
                <c:pt idx="3">
                  <c:v>40万</c:v>
                </c:pt>
                <c:pt idx="4">
                  <c:v>50万</c:v>
                </c:pt>
                <c:pt idx="5">
                  <c:v>60万</c:v>
                </c:pt>
                <c:pt idx="6">
                  <c:v>70万</c:v>
                </c:pt>
                <c:pt idx="7">
                  <c:v>80万</c:v>
                </c:pt>
                <c:pt idx="8">
                  <c:v>90万</c:v>
                </c:pt>
                <c:pt idx="9">
                  <c:v>100万</c:v>
                </c:pt>
              </c:strCache>
            </c:strRef>
          </c:cat>
          <c:val>
            <c:numRef>
              <c:f>'Chart Data'!$D$2:$D$11</c:f>
              <c:numCache>
                <c:formatCode>0</c:formatCode>
                <c:ptCount val="10"/>
                <c:pt idx="0">
                  <c:v>488.083</c:v>
                </c:pt>
                <c:pt idx="1">
                  <c:v>1742.733</c:v>
                </c:pt>
                <c:pt idx="2">
                  <c:v>1917.15</c:v>
                </c:pt>
                <c:pt idx="3">
                  <c:v>1839.4</c:v>
                </c:pt>
                <c:pt idx="4">
                  <c:v>1863.583</c:v>
                </c:pt>
                <c:pt idx="5">
                  <c:v>1910.1</c:v>
                </c:pt>
                <c:pt idx="6">
                  <c:v>1944.267</c:v>
                </c:pt>
                <c:pt idx="7">
                  <c:v>1959.117</c:v>
                </c:pt>
                <c:pt idx="8">
                  <c:v>1801.167</c:v>
                </c:pt>
                <c:pt idx="9">
                  <c:v>1811.067</c:v>
                </c:pt>
              </c:numCache>
            </c:numRef>
          </c:val>
          <c:smooth val="0"/>
        </c:ser>
        <c:ser>
          <c:idx val="2"/>
          <c:order val="2"/>
          <c:tx>
            <c:v>PPO</c:v>
          </c:tx>
          <c:spPr>
            <a:ln xmlns:a="http://schemas.openxmlformats.org/drawingml/2006/main" w="38100">
              <a:solidFill>
                <a:srgbClr val="39744A"/>
              </a:solidFill>
              <a:prstDash val="solid"/>
            </a:ln>
          </c:spPr>
          <c:marker>
            <c:symbol val="circle"/>
            <c:size val="6"/>
          </c:marker>
          <c:cat>
            <c:strRef>
              <c:f>'Chart Data'!$E$2:$E$11</c:f>
              <c:strCache>
                <c:ptCount val="10"/>
                <c:pt idx="0">
                  <c:v>10万</c:v>
                </c:pt>
                <c:pt idx="1">
                  <c:v>20万</c:v>
                </c:pt>
                <c:pt idx="2">
                  <c:v>30万</c:v>
                </c:pt>
                <c:pt idx="3">
                  <c:v>40万</c:v>
                </c:pt>
                <c:pt idx="4">
                  <c:v>50万</c:v>
                </c:pt>
                <c:pt idx="5">
                  <c:v>60万</c:v>
                </c:pt>
                <c:pt idx="6">
                  <c:v>70万</c:v>
                </c:pt>
                <c:pt idx="7">
                  <c:v>80万</c:v>
                </c:pt>
                <c:pt idx="8">
                  <c:v>90万</c:v>
                </c:pt>
                <c:pt idx="9">
                  <c:v>100万</c:v>
                </c:pt>
              </c:strCache>
            </c:strRef>
          </c:cat>
          <c:val>
            <c:numRef>
              <c:f>'Chart Data'!$F$2:$F$11</c:f>
              <c:numCache>
                <c:formatCode>0</c:formatCode>
                <c:ptCount val="10"/>
                <c:pt idx="0">
                  <c:v>265.15</c:v>
                </c:pt>
                <c:pt idx="1">
                  <c:v>217.383</c:v>
                </c:pt>
                <c:pt idx="2">
                  <c:v>263.967</c:v>
                </c:pt>
                <c:pt idx="3">
                  <c:v>588.617</c:v>
                </c:pt>
                <c:pt idx="4">
                  <c:v>1185.917</c:v>
                </c:pt>
                <c:pt idx="5">
                  <c:v>1333.517</c:v>
                </c:pt>
                <c:pt idx="6">
                  <c:v>1458.55</c:v>
                </c:pt>
                <c:pt idx="7">
                  <c:v>1289.333</c:v>
                </c:pt>
                <c:pt idx="8">
                  <c:v>1417.65</c:v>
                </c:pt>
                <c:pt idx="9">
                  <c:v>1465.883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D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9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22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9F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DQN</c:v>
          </c:tx>
          <c:spPr>
            <a:solidFill xmlns:a="http://schemas.openxmlformats.org/drawingml/2006/main">
              <a:srgbClr val="BC7C30"/>
            </a:solidFill>
          </c:spPr>
          <c:cat>
            <c:strRef>
              <c:f>'Chart Data'!$A$2:$A$4</c:f>
              <c:strCache>
                <c:ptCount val="3"/>
                <c:pt idx="0">
                  <c:v>原窗口720高</c:v>
                </c:pt>
                <c:pt idx="1">
                  <c:v>窗口600高</c:v>
                </c:pt>
                <c:pt idx="2">
                  <c:v>窗口900高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2114.393</c:v>
                </c:pt>
                <c:pt idx="1">
                  <c:v>2605.2</c:v>
                </c:pt>
                <c:pt idx="2">
                  <c:v>1733.343</c:v>
                </c:pt>
              </c:numCache>
            </c:numRef>
          </c:val>
        </c:ser>
        <c:ser>
          <c:idx val="1"/>
          <c:order val="1"/>
          <c:tx>
            <c:v>Double DQN</c:v>
          </c:tx>
          <c:spPr>
            <a:solidFill xmlns:a="http://schemas.openxmlformats.org/drawingml/2006/main">
              <a:srgbClr val="346F9D"/>
            </a:solidFill>
          </c:spPr>
          <c:cat>
            <c:strRef>
              <c:f>'Chart Data'!$C$2:$C$4</c:f>
              <c:strCache>
                <c:ptCount val="3"/>
                <c:pt idx="0">
                  <c:v>原窗口720高</c:v>
                </c:pt>
                <c:pt idx="1">
                  <c:v>窗口600高</c:v>
                </c:pt>
                <c:pt idx="2">
                  <c:v>窗口900高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2033.693</c:v>
                </c:pt>
                <c:pt idx="1">
                  <c:v>2661.237</c:v>
                </c:pt>
                <c:pt idx="2">
                  <c:v>1782.83</c:v>
                </c:pt>
              </c:numCache>
            </c:numRef>
          </c:val>
        </c:ser>
        <c:ser>
          <c:idx val="2"/>
          <c:order val="2"/>
          <c:tx>
            <c:v>PPO</c:v>
          </c:tx>
          <c:spPr>
            <a:solidFill xmlns:a="http://schemas.openxmlformats.org/drawingml/2006/main">
              <a:srgbClr val="39744A"/>
            </a:solidFill>
          </c:spPr>
          <c:cat>
            <c:strRef>
              <c:f>'Chart Data'!$E$2:$E$4</c:f>
              <c:strCache>
                <c:ptCount val="3"/>
                <c:pt idx="0">
                  <c:v>原窗口720高</c:v>
                </c:pt>
                <c:pt idx="1">
                  <c:v>窗口600高</c:v>
                </c:pt>
                <c:pt idx="2">
                  <c:v>窗口900高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1591.573</c:v>
                </c:pt>
                <c:pt idx="1">
                  <c:v>2398.503</c:v>
                </c:pt>
                <c:pt idx="2">
                  <c:v>1355.49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6322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D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9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6322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9F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3125F-84A3-4AF7-BF95-20B2ED02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Doodle Jump 原版规则强化学习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52EA0-7EFF-4E39-8FAD-97ACF594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1D2A2-53DF-458B-9DF9-95839EDF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9FCBC-4502-4C44-90D3-FB9933E3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DQN / Double DQN / PPO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A7502-813A-4735-9A15-81BA6B80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7810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7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保留原画面、物理与平台随机生成</a:t>
            </a:r>
          </a:p>
          <a:p xmlns:a="http://schemas.openxmlformats.org/drawingml/2006/main">
            <a:pPr>
              <a:defRPr sz="307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从头训练并测试学习效果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B14CF-CCF8-4AC0-8BBB-68F44511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7429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四人小组 A–D（姓名待填写）</a:t>
            </a:r>
          </a:p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26秋研究生强化学习课程</a:t>
            </a:r>
          </a:p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主讲14页，约13分钟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FE639-ACF7-4CFB-933E-3CCB9AB4C2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6b8ae781b4cf3"/>
          <a:stretch xmlns:a="http://schemas.openxmlformats.org/drawingml/2006/main"/>
        </p:blipFill>
        <p:spPr>
          <a:xfrm xmlns:a="http://schemas.openxmlformats.org/drawingml/2006/main">
            <a:off x="8858250" y="2356842"/>
            <a:ext cx="2238375" cy="21824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0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47A20-BA3E-4CD8-9284-3D4E6298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自动跳跃需要持续预测落点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1377C-1463-41FA-B145-F74FA14D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82C6D-1898-4C63-9157-95607A60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2A3B2-20D9-4938-A8A5-3D6989D14C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7790aab96480e"/>
          <a:stretch xmlns:a="http://schemas.openxmlformats.org/drawingml/2006/main"/>
        </p:blipFill>
        <p:spPr>
          <a:xfrm xmlns:a="http://schemas.openxmlformats.org/drawingml/2006/main">
            <a:off x="1055287" y="1438275"/>
            <a:ext cx="2585251" cy="45910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F749F-BDD9-4593-AF8E-51BD185DD076}"/>
              </a:ext>
            </a:extLst>
          </p:cNvPr>
          <p:cNvGraphicFramePr/>
          <p:nvPr/>
        </p:nvGraphicFramePr>
        <p:xfrm>
          <a:off xmlns:a="http://schemas.openxmlformats.org/drawingml/2006/main" x="4495800" y="1647825"/>
          <a:ext xmlns:a="http://schemas.openxmlformats.org/drawingml/2006/main" cx="7038975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038725"/>
              </a:tblGrid>
              <a:tr h="74866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原版机制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控制难点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移动平台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预测下降时的横向位置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易碎平台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落地后不能重复借力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弹簧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更长飞行时间和更远落点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黑洞与绕屏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比较两侧移动并规避危险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F727A-59D1-4772-8A21-F0503443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38800"/>
            <a:ext cx="6991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每4个物理帧观察一次，选择左 / 不动 / 右</a:t>
            </a:r>
          </a:p>
        </p:txBody>
      </p:sp>
    </p:spTree>
    <p:extLst>
      <p:ext uri="{BB962C8B-B14F-4D97-AF65-F5344CB8AC3E}">
        <p14:creationId xmlns:p14="http://schemas.microsoft.com/office/powerpoint/2010/main" val="456630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66787-23C2-485C-98B7-3E0DBFCC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原版文件与游戏规则保持不变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56E99-E6B7-4C84-8068-63F53FDA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C4180-C9A9-4536-8EE7-A2647B77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688EB-39E6-4900-BAD9-0834693CD6D3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537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382000"/>
              </a:tblGrid>
              <a:tr h="6127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保留的实际行为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外观与声音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原角色图片、平台绘制、网格、音效和署名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物理与顺序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直接横向速度、不同升降重力、先碰撞再移动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平台生成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全宽随机、原类型抽样、易碎旁补普通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原版特殊行为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顶部出生、300阈值、弹簧碰撞尺寸、数组刷新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新增训练接口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reset(seed)、step(action)、观测、奖励、时限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3B0A1-1350-4629-9217-8E94614E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原版得分按滚屏时处理的平台数累计，得分并非像素高度</a:t>
            </a:r>
          </a:p>
        </p:txBody>
      </p:sp>
    </p:spTree>
    <p:extLst>
      <p:ext uri="{BB962C8B-B14F-4D97-AF65-F5344CB8AC3E}">
        <p14:creationId xmlns:p14="http://schemas.microsoft.com/office/powerpoint/2010/main" val="1224648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CAECD-5494-4E2B-9921-51E42538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209维观测与三动作策略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647DF-251E-4902-9B9F-63090CBA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EEDC1-464F-4E48-AB71-40F12F0D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7845B-1573-4E8F-A24C-4525B0E531A1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5375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143125"/>
                <a:gridCol w="6524625"/>
              </a:tblGrid>
              <a:tr h="6548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维数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位置、速度和最高高度差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可见平台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20×10=200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相对位置、宽度、速度、类型、弹簧、掩码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原版单黑洞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相对位置、半径和掩码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F6AC9-7717-452C-9B2C-A9C1BBB1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209 → 128 → 128 → 左 / 不动 / 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964C0-6F70-47F6-A30A-E961B8FC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r = Δ原版得分 / 100 − 0.001 − 1×死亡</a:t>
            </a:r>
          </a:p>
          <a:p xmlns:a="http://schemas.openxmlformats.org/drawingml/2006/main">
            <a:pPr>
              <a:def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1500决策为时间截断，跌落或黑洞为真实终止</a:t>
            </a:r>
          </a:p>
        </p:txBody>
      </p:sp>
    </p:spTree>
    <p:extLst>
      <p:ext uri="{BB962C8B-B14F-4D97-AF65-F5344CB8AC3E}">
        <p14:creationId xmlns:p14="http://schemas.microsoft.com/office/powerpoint/2010/main" val="917144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B5EE0-50DB-4C66-A371-215E9FFC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DQN与Double DQN只改变TD目标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4C9A3-EA04-46DF-A445-15BE76D0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9F11D-1E5C-47AC-A4EE-DCC5A396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FCEAE-7BFD-4296-A2E1-9C29FE0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71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C7C30"/>
                </a:solidFill>
                <a:latin typeface="Microsoft YaHei"/>
                <a:ea typeface="Microsoft YaHei"/>
                <a:cs typeface="Microsoft YaHei"/>
              </a:rPr>
              <a:t>DQN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F8663-C791-4B46-93DC-B6D8162D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y = r + γ maxₐ Qtarget(s′, a)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D9B50-0BAC-4A5A-B262-C7ECC64E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666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rPr>
              <a:t>Double DQN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27A7A-BD8F-4C18-9EDE-38439B47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5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a* = argmaxₐ Qonline(s′, a)</a:t>
            </a:r>
          </a:p>
          <a:p xmlns:a="http://schemas.openxmlformats.org/drawingml/2006/main">
            <a:pPr>
              <a:defRPr sz="247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y = r + γ Qtarget(s′, a*)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23B92-8238-4875-9D1F-2511A086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真实终止屏蔽bootstrap，时间截断保留下一状态价值</a:t>
            </a:r>
          </a:p>
        </p:txBody>
      </p:sp>
    </p:spTree>
    <p:extLst>
      <p:ext uri="{BB962C8B-B14F-4D97-AF65-F5344CB8AC3E}">
        <p14:creationId xmlns:p14="http://schemas.microsoft.com/office/powerpoint/2010/main" val="7846009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88807-1BD3-45BF-AE7D-B139A67D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PPO用动作概率与优势更新策略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44F7E-BDD7-41C0-94B8-F356A1A5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CA245-B398-417C-B651-4F7CD9C7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7F8BF-7796-4AC1-97C5-9DE5788C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ρₜ = πθ(aₜ | sₜ) / πold(aₜ | sₜ)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EFA86-AD55-4556-9839-607EDEB4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Lclip = E[min(ρₜAₜ, clip(ρₜ, 0.8, 1.2)Aₜ)]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14FFE-5D8F-42AD-89FE-2FC6807F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953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δₜ = rₜ + γV(sₜ₊₁) − V(sₜ)</a:t>
            </a:r>
          </a:p>
          <a:p xmlns:a="http://schemas.openxmlformats.org/drawingml/2006/main">
            <a:pPr>
              <a:defRPr sz="23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GAE(γ=0.99, λ=0.95)估计动作优势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3B6BD-88EF-43A9-A26A-57E494C4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53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PPO使用当前策略采样，DQN反复使用长期回放</a:t>
            </a:r>
          </a:p>
          <a:p xmlns:a="http://schemas.openxmlformats.org/drawingml/2006/main">
            <a:pPr>
              <a:defRPr sz="195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重置时停止优势递推，时限仍bootstrap</a:t>
            </a:r>
          </a:p>
        </p:txBody>
      </p:sp>
    </p:spTree>
    <p:extLst>
      <p:ext uri="{BB962C8B-B14F-4D97-AF65-F5344CB8AC3E}">
        <p14:creationId xmlns:p14="http://schemas.microsoft.com/office/powerpoint/2010/main" val="20091340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0D572-9F09-447C-9DC4-9242DD58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每次100万决策，三个独立训练种子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06FDE-6F67-4BDD-9D2E-B328B4F0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CEC9C-35A5-4103-B006-C54875C8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1516F-377C-4A07-A80F-8A7FCC18C69A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5375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29125"/>
                <a:gridCol w="4048125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数据划分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种子或窗口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42、59、143；地图≥1000000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405×720原版环境更新策略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10000–10019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选检查点，记录学习曲线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原窗口测试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20000–20099；405×720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同分布新地图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窗口适应测试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30000–30099；337.5×600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沿用原窗口缩放规则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窗口适应测试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40000–40099；506.25×900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沿用原窗口缩放规则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6D0C6-38E0-403B-8FCF-B2291455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12次训练共1200万决策，主比较统一argmax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32670-FC1F-426C-9C79-188AD5C9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±为3个训练种子之间的SD，地图数量不能当作训练种子数</a:t>
            </a:r>
          </a:p>
        </p:txBody>
      </p:sp>
    </p:spTree>
    <p:extLst>
      <p:ext uri="{BB962C8B-B14F-4D97-AF65-F5344CB8AC3E}">
        <p14:creationId xmlns:p14="http://schemas.microsoft.com/office/powerpoint/2010/main" val="3219915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98B8A-F342-4EF3-8821-8491124D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验证得分的学习曲线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455C4-C406-4188-9D66-B32DE777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C7C19-1CAC-493F-8BBC-022DDA5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837D264-1727-4150-BDE8-5AE321B4D820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53750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69918c9cbb485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0AC0F-8734-41E7-82B5-A777EF5B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纵轴：20张验证图的原版平均得分，再对3种子取均值</a:t>
            </a:r>
          </a:p>
        </p:txBody>
      </p:sp>
    </p:spTree>
    <p:extLst>
      <p:ext uri="{BB962C8B-B14F-4D97-AF65-F5344CB8AC3E}">
        <p14:creationId xmlns:p14="http://schemas.microsoft.com/office/powerpoint/2010/main" val="1486514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64829-85F9-4255-A1BE-1B446D33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原窗口保留地图测试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AF51E-FA22-41E2-BA9A-6151D137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4D1B6-6C4F-4A3A-A527-51A818F0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9F6D1-A9C8-49BC-AAD6-E4D7486AFA5B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5375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5286375"/>
                <a:gridCol w="2952750"/>
              </a:tblGrid>
              <a:tr h="587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原版得分（均值 ± SD）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实际上升高度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随机动作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物理规则参考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2882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436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2114 ± 134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284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 DQN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2034 ± 75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268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1592 ± 53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A64C1-DC6E-45F7-B3D0-DEA43C36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每个学习策略3种子×100图，所有策略使用相同测试图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9982D-5BC8-4B14-85AE-E32DBAFF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PPO概率采样另测：得分1546 ± 87，高度191。规则参考没有训练。</a:t>
            </a:r>
          </a:p>
        </p:txBody>
      </p:sp>
    </p:spTree>
    <p:extLst>
      <p:ext uri="{BB962C8B-B14F-4D97-AF65-F5344CB8AC3E}">
        <p14:creationId xmlns:p14="http://schemas.microsoft.com/office/powerpoint/2010/main" val="573981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D93D0-EA24-4EF6-9D8C-3AF684D0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窗口适应能力仍有明显差异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AC518-1871-4FDC-9AD8-C7353961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A8584-E2E5-414E-BA9C-467404A8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5F2D31C-9B2E-40E4-865D-CB1221A12A31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537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ba1ee392ca475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B9B75-D07D-4FEB-95BD-F3507C79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5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纵轴为原版得分。窗口改变尺度与初始布局，应在同窗口比较算法</a:t>
            </a:r>
          </a:p>
        </p:txBody>
      </p:sp>
    </p:spTree>
    <p:extLst>
      <p:ext uri="{BB962C8B-B14F-4D97-AF65-F5344CB8AC3E}">
        <p14:creationId xmlns:p14="http://schemas.microsoft.com/office/powerpoint/2010/main" val="17718241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F2F15-FDE4-4D94-AE86-B7599212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PPO速度置零消融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8AA7A-5B22-4F32-AB7B-BF9FEC79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0FB4C-FECB-43BD-AA97-666309A8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9AFB5-2534-401D-9139-4203EFFD4220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5375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571750"/>
                <a:gridCol w="2571750"/>
                <a:gridCol w="257175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观测设置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720高得分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600高得分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900高得分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完整观测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1592 ± 53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2399 ± 195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1355 ± 110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速度置零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1698 ± 28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2134 ± 260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1225 ± 199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DA788-2967-4F1E-8516-FA2FBBC3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53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速度置零的原窗口平均得分增加106。</a:t>
            </a:r>
          </a:p>
          <a:p xmlns:a="http://schemas.openxmlformats.org/drawingml/2006/main">
            <a:pPr>
              <a:def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三种子结果不足以证明速度信息普遍有益或有害。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947A6-AFD7-4C1E-950C-B0BF06BA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维数209、网络和预算不变，玩家与平台速度置零后重新训练</a:t>
            </a:r>
          </a:p>
        </p:txBody>
      </p:sp>
    </p:spTree>
    <p:extLst>
      <p:ext uri="{BB962C8B-B14F-4D97-AF65-F5344CB8AC3E}">
        <p14:creationId xmlns:p14="http://schemas.microsoft.com/office/powerpoint/2010/main" val="10203048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9F096-FD0D-4145-B7C9-AE6F8E1E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真实推理画面与失败回合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52859-186D-44A8-8EDF-C15E5CB0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4F264-0CA4-443A-BE22-CE1F7E71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53B4B-CFB6-404F-B530-696F3F3C4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47cd9756849ac"/>
          <a:stretch xmlns:a="http://schemas.openxmlformats.org/drawingml/2006/main"/>
        </p:blipFill>
        <p:spPr>
          <a:xfrm xmlns:a="http://schemas.openxmlformats.org/drawingml/2006/main">
            <a:off x="862105" y="1438275"/>
            <a:ext cx="2590615" cy="46005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1CC9C-DD85-48E1-A727-51B507CB30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26764024442b5"/>
          <a:stretch xmlns:a="http://schemas.openxmlformats.org/drawingml/2006/main"/>
        </p:blipFill>
        <p:spPr>
          <a:xfrm xmlns:a="http://schemas.openxmlformats.org/drawingml/2006/main">
            <a:off x="4338730" y="1438275"/>
            <a:ext cx="2590615" cy="46005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09E35-EFBA-4AC3-A04D-5EDA1164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9338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验证集展示回合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7EBC2-45A1-4864-9780-2790EF3A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66975"/>
            <a:ext cx="39338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模型只按验证成绩选择。</a:t>
            </a:r>
          </a:p>
          <a:p xmlns:a="http://schemas.openxmlformats.org/drawingml/2006/main">
            <a:pPr>
              <a:def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种子10006，最终分6421</a:t>
            </a:r>
          </a:p>
          <a:p xmlns:a="http://schemas.openxmlformats.org/drawingml/2006/main">
            <a:pPr>
              <a:def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最高上升高度996</a:t>
            </a:r>
          </a:p>
          <a:p xmlns:a="http://schemas.openxmlformats.org/drawingml/2006/main">
            <a:pPr>
              <a:def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展示局不能代替平均成绩。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9A5E3-F5DC-4297-A39E-820BE623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39338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46F9D"/>
                </a:solidFill>
                <a:latin typeface="Microsoft YaHei"/>
                <a:ea typeface="Microsoft YaHei"/>
                <a:cs typeface="Microsoft YaHei"/>
              </a:rPr>
              <a:t>失败边界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1DF57-40C5-4082-A194-959B8FAB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14925"/>
            <a:ext cx="3933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种子10012，最终分1168</a:t>
            </a:r>
          </a:p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黑洞死亡，上升194</a:t>
            </a:r>
          </a:p>
        </p:txBody>
      </p:sp>
    </p:spTree>
    <p:extLst>
      <p:ext uri="{BB962C8B-B14F-4D97-AF65-F5344CB8AC3E}">
        <p14:creationId xmlns:p14="http://schemas.microsoft.com/office/powerpoint/2010/main" val="20415337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6E71A-0C87-4975-96DB-976953E8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四人工作量与模块验收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7206C-8288-4BAC-AC71-D92F4BB9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BE2D4-32C4-4879-9CB0-333C00BA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32101-75F3-49FD-9110-1EEEA473F42E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5375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4953000"/>
                <a:gridCol w="4667250"/>
              </a:tblGrid>
              <a:tr h="6743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负责工作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验收证据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原版移植、训练接口、种子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原文件哈希与逐帧原版对照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 / Double DQN实现与训练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TD目标单测、6次训练日志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/ GAE与速度消融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边界单测、6次训练日志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保留测试、浏览器推理、汇报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逐地图CSV、模型对齐、PPT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791B5-B61D-4780-A749-AB5A1DD2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交付代码、原版素材、12组权重、逐局结果、报告与讲稿</a:t>
            </a:r>
          </a:p>
        </p:txBody>
      </p:sp>
    </p:spTree>
    <p:extLst>
      <p:ext uri="{BB962C8B-B14F-4D97-AF65-F5344CB8AC3E}">
        <p14:creationId xmlns:p14="http://schemas.microsoft.com/office/powerpoint/2010/main" val="9445537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D9A18-E2BC-4014-8F52-6DBE742C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原版得分提升与持续攀升的边界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ADC92-239D-4E52-8ABB-8EA9A0AA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2C6FC-43C4-46B5-AB23-7311C17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82320-1C14-4D67-8A25-D20D3CD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DQN原窗口均分最高：2114 ± 134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0767A-99E7-4F26-8739-5CBD3172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537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同预算下算法排序来自本次实测，不能推出普遍优劣。</a:t>
            </a:r>
          </a:p>
          <a:p xmlns:a="http://schemas.openxmlformats.org/drawingml/2006/main">
            <a:pPr>
              <a:def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学习模型最高均分约为随机动作的9.7倍。</a:t>
            </a:r>
          </a:p>
          <a:p xmlns:a="http://schemas.openxmlformats.org/drawingml/2006/main">
            <a:pPr>
              <a:def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原版计分与高度不等价，持续攀升仍有明显局限。</a:t>
            </a:r>
          </a:p>
          <a:p xmlns:a="http://schemas.openxmlformats.org/drawingml/2006/main">
            <a:pPr>
              <a:def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三训练种子与结构化观测限制结论的外推范围。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294A6-5ED7-44DE-9A95-E40EF23F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后续研究：增加训练种子，分析计分偏差，再独立开展视觉输入实验</a:t>
            </a:r>
          </a:p>
        </p:txBody>
      </p:sp>
    </p:spTree>
    <p:extLst>
      <p:ext uri="{BB962C8B-B14F-4D97-AF65-F5344CB8AC3E}">
        <p14:creationId xmlns:p14="http://schemas.microsoft.com/office/powerpoint/2010/main" val="16258317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9FB84-4029-467C-9E98-F06E2109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附录：超参数与实际训练记录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12408-DD70-4FD0-9DC8-3C1B10C9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26402-6ECB-451B-B882-7DAB6D0B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A7CB9-4A25-4864-9C8A-02960AF89FF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5375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05250"/>
                <a:gridCol w="3905250"/>
              </a:tblGrid>
              <a:tr h="50125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 / Double DQN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观测与隐藏层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 / 128 / 128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 / 128 / 128，共享骨干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43,779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43,908（含价值头）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学习率 / γ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0.0005 / 0.99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0.0003 / 0.99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数据与更新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回放100k，batch128，每4决策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8环境×128步，4轮，batch256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 / 优势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目标网络每2000决策同步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GAE λ0.95，clip0.2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ε 1→0.05，60万决策退火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熵系数0.01，策略概率采样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50125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 / 选点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100万，5万一次验证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100万，约5万一次验证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87ED1-B7A1-42FB-934F-205D060A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CPU单线程/进程，实测分钟：dqn 15.5–16.2，double_dqn 9.7–10.1，ppo 5.2–5.2</a:t>
            </a:r>
          </a:p>
        </p:txBody>
      </p:sp>
    </p:spTree>
    <p:extLst>
      <p:ext uri="{BB962C8B-B14F-4D97-AF65-F5344CB8AC3E}">
        <p14:creationId xmlns:p14="http://schemas.microsoft.com/office/powerpoint/2010/main" val="2536956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ECDA2-D644-4AB6-81CA-564B4742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附录：原版对照与部署验证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AA06B-E7CF-4AD8-947D-5D506F4C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793C9-1797-4F10-AFD2-D1F563B5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57F81-4036-42E9-AC2A-E540D2C109BC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96250"/>
              </a:tblGrid>
              <a:tr h="6175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本次检查</a:t>
                      </a:r>
                    </a:p>
                  </a:txBody>
                  <a:tcPr marL="91440" marR="91440" marT="45720" marB="45720">
                    <a:solidFill>
                      <a:srgbClr val="E4EBDD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原文件完整性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21个文件SHA256全部匹配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物理逐帧对照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30条轨迹，20,460决策，81,803物理帧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特殊规则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7案例：弹簧、易碎、边界、黑洞、跌落、绕屏、刷新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算法与部署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5项算法单测，12模型×360观测，argmax无差异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  <a:tr h="6175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浏览器与运行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2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原图加载、手动控制、暂停、重开、一键启动</a:t>
                      </a:r>
                    </a:p>
                  </a:txBody>
                  <a:tcPr marL="91440" marR="91440" marT="45720" marB="45720">
                    <a:solidFill>
                      <a:srgbClr val="FA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21860-C9F8-41AF-BA59-CEABADA6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所有原版特殊行为继续保留，修复需新环境版本并重新训练</a:t>
            </a:r>
          </a:p>
        </p:txBody>
      </p:sp>
    </p:spTree>
    <p:extLst>
      <p:ext uri="{BB962C8B-B14F-4D97-AF65-F5344CB8AC3E}">
        <p14:creationId xmlns:p14="http://schemas.microsoft.com/office/powerpoint/2010/main" val="7242261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96483-790F-4D81-816C-5BD2B499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附录：来源与运行入口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EB6CF-46F0-45EE-8F64-8624B6FF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DOODLE JUMP / 原版规则强化学习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94BE9-7910-4EA5-A848-9894B0E0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55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6B378-DE3B-4E32-B7A7-AA2B9B13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游戏：takosenpai2687/doodle-jump</a:t>
            </a:r>
          </a:p>
          <a:p xmlns:a="http://schemas.openxmlformats.org/drawingml/2006/main">
            <a:pPr>
              <a:def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固定提交：d4b6071813a9c1353267d53dcfa9d8abc3e5b2f4</a:t>
            </a:r>
          </a:p>
          <a:p xmlns:a="http://schemas.openxmlformats.org/drawingml/2006/main">
            <a:pPr>
              <a:def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算法：DQN (2013)、Double DQN (2015)</a:t>
            </a:r>
          </a:p>
          <a:p xmlns:a="http://schemas.openxmlformats.org/drawingml/2006/main">
            <a:pPr>
              <a:def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229"/>
                </a:solidFill>
                <a:latin typeface="Microsoft YaHei"/>
                <a:ea typeface="Microsoft YaHei"/>
                <a:cs typeface="Microsoft YaHei"/>
              </a:rPr>
              <a:t>PPO (2017)、GAE (2015)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E761A-8951-4B97-9F7F-7633839E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5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试玩：双击 start_game.cmd（需要Python 3）</a:t>
            </a:r>
          </a:p>
          <a:p xmlns:a="http://schemas.openxmlformats.org/drawingml/2006/main">
            <a:pPr>
              <a:def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复现：README.md / train.py / evaluate.py</a:t>
            </a:r>
          </a:p>
          <a:p xmlns:a="http://schemas.openxmlformats.org/drawingml/2006/main">
            <a:pPr>
              <a:def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744A"/>
                </a:solidFill>
                <a:latin typeface="Microsoft YaHei"/>
                <a:ea typeface="Microsoft YaHei"/>
                <a:cs typeface="Microsoft YaHei"/>
              </a:rPr>
              <a:t>核查：PROVENANCE.md / tests/ / results/</a:t>
            </a:r>
          </a:p>
        </p:txBody>
      </p:sp>
    </p:spTree>
    <p:extLst>
      <p:ext uri="{BB962C8B-B14F-4D97-AF65-F5344CB8AC3E}">
        <p14:creationId xmlns:p14="http://schemas.microsoft.com/office/powerpoint/2010/main" val="948552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2026-10-08T05:48:00.0880000Z</dcterms:created>
  <dcterms:modified xsi:type="dcterms:W3CDTF">2026-10-08T05:48:00.0880000Z</dcterms:modified>
</coreProperties>
</file>