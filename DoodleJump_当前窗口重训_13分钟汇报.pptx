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be53a095ce41db" /><Relationship Type="http://schemas.openxmlformats.org/officeDocument/2006/relationships/extended-properties" Target="/docProps/app.xml" Id="Rcc06a0bfaacd4c78" /><Relationship Type="http://schemas.openxmlformats.org/officeDocument/2006/relationships/officeDocument" Target="/ppt/presentation.xml" Id="R9a7dd285389a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0d778cd4124846"/>
  </p:sldMasterIdLst>
  <p:notesMasterIdLst>
    <p:notesMasterId xmlns:r="http://schemas.openxmlformats.org/officeDocument/2006/relationships" r:id="Rbd70ad29d7424d8d"/>
  </p:notesMasterIdLst>
  <p:sldIdLst>
    <p:sldId xmlns:r="http://schemas.openxmlformats.org/officeDocument/2006/relationships" id="256" r:id="R14f4b207df424c14"/>
    <p:sldId xmlns:r="http://schemas.openxmlformats.org/officeDocument/2006/relationships" id="257" r:id="R304d2a01c26d41ef"/>
    <p:sldId xmlns:r="http://schemas.openxmlformats.org/officeDocument/2006/relationships" id="258" r:id="R9804bad8c9e347bb"/>
    <p:sldId xmlns:r="http://schemas.openxmlformats.org/officeDocument/2006/relationships" id="259" r:id="Rce251e7c36b94d40"/>
    <p:sldId xmlns:r="http://schemas.openxmlformats.org/officeDocument/2006/relationships" id="260" r:id="Rc9beb6022715443d"/>
    <p:sldId xmlns:r="http://schemas.openxmlformats.org/officeDocument/2006/relationships" id="261" r:id="R21f5c59b43964f75"/>
    <p:sldId xmlns:r="http://schemas.openxmlformats.org/officeDocument/2006/relationships" id="262" r:id="Rf2c186bd34444e35"/>
    <p:sldId xmlns:r="http://schemas.openxmlformats.org/officeDocument/2006/relationships" id="263" r:id="R080be723e0904b35"/>
    <p:sldId xmlns:r="http://schemas.openxmlformats.org/officeDocument/2006/relationships" id="264" r:id="R8f7253650b2f456f"/>
    <p:sldId xmlns:r="http://schemas.openxmlformats.org/officeDocument/2006/relationships" id="265" r:id="R49e14ab7a06342e0"/>
    <p:sldId xmlns:r="http://schemas.openxmlformats.org/officeDocument/2006/relationships" id="266" r:id="Rd439e90b126f49f3"/>
    <p:sldId xmlns:r="http://schemas.openxmlformats.org/officeDocument/2006/relationships" id="267" r:id="R2372e71f6cba4a9a"/>
    <p:sldId xmlns:r="http://schemas.openxmlformats.org/officeDocument/2006/relationships" id="268" r:id="R623cfb09ba3e4d0b"/>
    <p:sldId xmlns:r="http://schemas.openxmlformats.org/officeDocument/2006/relationships" id="269" r:id="Rbf6ceff1a56c46bb"/>
    <p:sldId xmlns:r="http://schemas.openxmlformats.org/officeDocument/2006/relationships" id="270" r:id="R81e38d9f1a714de8"/>
    <p:sldId xmlns:r="http://schemas.openxmlformats.org/officeDocument/2006/relationships" id="271" r:id="Rb0474df24b424000"/>
    <p:sldId xmlns:r="http://schemas.openxmlformats.org/officeDocument/2006/relationships" id="272" r:id="Rd95fb685865340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b0f7c7df7146e7" /><Relationship Type="http://schemas.openxmlformats.org/officeDocument/2006/relationships/slideMaster" Target="/ppt/slideMasters/slideMaster1.xml" Id="Rc60d778cd4124846" /><Relationship Type="http://schemas.openxmlformats.org/officeDocument/2006/relationships/notesMaster" Target="/ppt/notesMasters/notesMaster1.xml" Id="Rbd70ad29d7424d8d" /><Relationship Type="http://schemas.openxmlformats.org/officeDocument/2006/relationships/presProps" Target="/ppt/presProps.xml" Id="Rf104124e655f4d51" /><Relationship Type="http://schemas.openxmlformats.org/officeDocument/2006/relationships/tableStyles" Target="/ppt/tableStyles.xml" Id="R5bd943d6d3ea4666" /><Relationship Type="http://schemas.openxmlformats.org/officeDocument/2006/relationships/slide" Target="/ppt/slides/slide1.xml" Id="R14f4b207df424c14" /><Relationship Type="http://schemas.openxmlformats.org/officeDocument/2006/relationships/slide" Target="/ppt/slides/slide2.xml" Id="R304d2a01c26d41ef" /><Relationship Type="http://schemas.openxmlformats.org/officeDocument/2006/relationships/slide" Target="/ppt/slides/slide3.xml" Id="R9804bad8c9e347bb" /><Relationship Type="http://schemas.openxmlformats.org/officeDocument/2006/relationships/slide" Target="/ppt/slides/slide4.xml" Id="Rce251e7c36b94d40" /><Relationship Type="http://schemas.openxmlformats.org/officeDocument/2006/relationships/slide" Target="/ppt/slides/slide5.xml" Id="Rc9beb6022715443d" /><Relationship Type="http://schemas.openxmlformats.org/officeDocument/2006/relationships/slide" Target="/ppt/slides/slide6.xml" Id="R21f5c59b43964f75" /><Relationship Type="http://schemas.openxmlformats.org/officeDocument/2006/relationships/slide" Target="/ppt/slides/slide7.xml" Id="Rf2c186bd34444e35" /><Relationship Type="http://schemas.openxmlformats.org/officeDocument/2006/relationships/slide" Target="/ppt/slides/slide8.xml" Id="R080be723e0904b35" /><Relationship Type="http://schemas.openxmlformats.org/officeDocument/2006/relationships/slide" Target="/ppt/slides/slide9.xml" Id="R8f7253650b2f456f" /><Relationship Type="http://schemas.openxmlformats.org/officeDocument/2006/relationships/slide" Target="/ppt/slides/slide10.xml" Id="R49e14ab7a06342e0" /><Relationship Type="http://schemas.openxmlformats.org/officeDocument/2006/relationships/slide" Target="/ppt/slides/slide11.xml" Id="Rd439e90b126f49f3" /><Relationship Type="http://schemas.openxmlformats.org/officeDocument/2006/relationships/slide" Target="/ppt/slides/slide12.xml" Id="R2372e71f6cba4a9a" /><Relationship Type="http://schemas.openxmlformats.org/officeDocument/2006/relationships/slide" Target="/ppt/slides/slide13.xml" Id="R623cfb09ba3e4d0b" /><Relationship Type="http://schemas.openxmlformats.org/officeDocument/2006/relationships/slide" Target="/ppt/slides/slide14.xml" Id="Rbf6ceff1a56c46bb" /><Relationship Type="http://schemas.openxmlformats.org/officeDocument/2006/relationships/slide" Target="/ppt/slides/slide15.xml" Id="R81e38d9f1a714de8" /><Relationship Type="http://schemas.openxmlformats.org/officeDocument/2006/relationships/slide" Target="/ppt/slides/slide16.xml" Id="Rb0474df24b424000" /><Relationship Type="http://schemas.openxmlformats.org/officeDocument/2006/relationships/slide" Target="/ppt/slides/slide17.xml" Id="Rd95fb685865340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22f3f06978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d84b752e1d4854" /><Relationship Type="http://schemas.openxmlformats.org/officeDocument/2006/relationships/notesMaster" Target="/ppt/notesMasters/notesMaster1.xml" Id="Rfb54b60ab7d0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02cf37e8fe45b1" /><Relationship Type="http://schemas.openxmlformats.org/officeDocument/2006/relationships/notesMaster" Target="/ppt/notesMasters/notesMaster1.xml" Id="Rc8cf1a1c6a4a4e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03aad4c4da43f4" /><Relationship Type="http://schemas.openxmlformats.org/officeDocument/2006/relationships/notesMaster" Target="/ppt/notesMasters/notesMaster1.xml" Id="Rfb4049065cc644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00254ed8db4df5" /><Relationship Type="http://schemas.openxmlformats.org/officeDocument/2006/relationships/notesMaster" Target="/ppt/notesMasters/notesMaster1.xml" Id="Rd7960d15c6f841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8f9c831d841d5" /><Relationship Type="http://schemas.openxmlformats.org/officeDocument/2006/relationships/notesMaster" Target="/ppt/notesMasters/notesMaster1.xml" Id="R40f96a671b214f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dd0f98dce48a6" /><Relationship Type="http://schemas.openxmlformats.org/officeDocument/2006/relationships/notesMaster" Target="/ppt/notesMasters/notesMaster1.xml" Id="Rdc751f5f81314c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336aaf0cf84a11" /><Relationship Type="http://schemas.openxmlformats.org/officeDocument/2006/relationships/notesMaster" Target="/ppt/notesMasters/notesMaster1.xml" Id="R1961b3d2592f4d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9cd5c633944cba" /><Relationship Type="http://schemas.openxmlformats.org/officeDocument/2006/relationships/notesMaster" Target="/ppt/notesMasters/notesMaster1.xml" Id="R4c67c394968e4f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88c51a23ef4dfc" /><Relationship Type="http://schemas.openxmlformats.org/officeDocument/2006/relationships/notesMaster" Target="/ppt/notesMasters/notesMaster1.xml" Id="R4c473fe67db34b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12c9b724eb4b7e" /><Relationship Type="http://schemas.openxmlformats.org/officeDocument/2006/relationships/notesMaster" Target="/ppt/notesMasters/notesMaster1.xml" Id="R293bf676286743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44602ebbfa4577" /><Relationship Type="http://schemas.openxmlformats.org/officeDocument/2006/relationships/notesMaster" Target="/ppt/notesMasters/notesMaster1.xml" Id="Rb92d9f408dab40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4163ebbb9e48f7" /><Relationship Type="http://schemas.openxmlformats.org/officeDocument/2006/relationships/notesMaster" Target="/ppt/notesMasters/notesMaster1.xml" Id="Rd85e0feedf1a4e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3070c227684409" /><Relationship Type="http://schemas.openxmlformats.org/officeDocument/2006/relationships/notesMaster" Target="/ppt/notesMasters/notesMaster1.xml" Id="Rd02ae7df8b2d45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d44f9003204a62" /><Relationship Type="http://schemas.openxmlformats.org/officeDocument/2006/relationships/notesMaster" Target="/ppt/notesMasters/notesMaster1.xml" Id="Rfa0df4857a3645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96c8b0dc564359" /><Relationship Type="http://schemas.openxmlformats.org/officeDocument/2006/relationships/notesMaster" Target="/ppt/notesMasters/notesMaster1.xml" Id="Rd1e8a383337c4b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a149860e47474a" /><Relationship Type="http://schemas.openxmlformats.org/officeDocument/2006/relationships/notesMaster" Target="/ppt/notesMasters/notesMaster1.xml" Id="Ra3cd3e20b16242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86c507e68140be" /><Relationship Type="http://schemas.openxmlformats.org/officeDocument/2006/relationships/notesMaster" Target="/ppt/notesMasters/notesMaster1.xml" Id="Rebbafa963a44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25 秒。</a:t>
            </a:r>
          </a:p>
          <a:p xmlns:a="http://schemas.openxmlformats.org/drawingml/2006/main">
            <a:r>
              <a:t>大家好，我们的项目是使用强化学习控制开源Doodle Jump。角色自动跳跃，网络学习左右移动。本次保留原版外观、物理和平台生成规则，从头训练DQN、Double DQN与PPO，并在未用于训练的地图上测试。接下来介绍原版适配、算法对照以及实际效果。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45 秒。</a:t>
            </a:r>
          </a:p>
          <a:p xmlns:a="http://schemas.openxmlformats.org/drawingml/2006/main">
            <a:r>
              <a:t>先看游戏。落到平台就自动起跳，所以只有左、不动、右三个动作。但连续控制需要预测下降时的落点。蓝色移动平台不断横向移动，白色易碎平台使用后消失，弹簧让跳跃更高、更久。横向超出边界后出现在另一侧，黑洞接近时会死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策略必须根据当前位置与速度，判断哪种动作能使未来落脚更安全。没有预先给出的路线，也没有BFS帮网络找路。平台和角色使用原仓库的图像与绘制函数。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55 秒。</a:t>
            </a:r>
          </a:p>
          <a:p xmlns:a="http://schemas.openxmlformats.org/drawingml/2006/main">
            <a:r>
              <a:t>这次最重要的工程要求是保留原版。upstream保存完整21个原文件，浏览器直接执行原引擎。适配层只增加种子、动作接口、观测、训练奖励和时间截断。地图仍是全宽独立随机，没有加入保证连通的安全平台。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训练移植需要复制原代码的实际行为，包括先碰撞再移动、顶部出生、300像素阈值，以及数组循环时同时删除添加平台。即使原代码某些行为不理想，也没有顺手修复，否则就成了另一种环境。原计分继续保留，同时记录高度，帮助判断策略是否持续攀升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55 秒。</a:t>
            </a:r>
          </a:p>
          <a:p xmlns:a="http://schemas.openxmlformats.org/drawingml/2006/main">
            <a:r>
              <a:t>输入是209维结构向量，维度就是标量数量。玩家5个标量，最多20个平台每个10个标量，原版单黑洞4个标量。平台带相对坐标、宽度、速度、类型、弹簧和有效掩码，空槽补零。有限可见对象构成局部观测，未来平台和随机数状态没有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两层128宽网络输出三种动作的Q值或概率，每次动作执行4帧。奖励是原版得分增量除以100，减少量时间代价，死亡再减1。1500次决策为时间截断，不能与真正死亡混淆。原版得分不是高度，评价时两项都记录。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DQN学习每个动作的长期价值。训练把经历存入回放缓冲，再抽取小批量更新。目标网络周期同步，用相对稳定的下一状态估计作为TD目标。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DQN在目标网络里同时选择最大动作和估计价值。带噪声估计取最大值可能导致高估。Double DQN用在线网络选动作，再由目标网络估值。我们让网络、回放、奖励和探索计划一致，只改变这一步。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这形成明确的算法对照，但减少某类估计偏差不等于每次游戏成绩更高。探索、局部观测和训练预算仍会影响最终结果。死亡屏蔽bootstrap，时间截断保留下一状态价值。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https://arxiv.org/abs/1312.5602</a:t>
            </a:r>
          </a:p>
          <a:p xmlns:a="http://schemas.openxmlformats.org/drawingml/2006/main">
            <a:r>
              <a:t>https://arxiv.org/abs/1509.06461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PPO直接学习动作概率。Actor给出三种动作的分布，Critic估计状态价值，GAE将多步TD残差组合成优势，判断动作比平均水平好多少。概率比裁剪限制过大的策略改变。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这里gamma是0.99，lambda是0.95，裁剪范围0.8到1.2。采样来自当前策略，再对当前批次做多轮更新，随后重新采样。DQN可以反复使用长期旧回放，PPO的数据使用方式不同。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相同环境交互预算只是统一了拿到多少经验，并不意味着更新次数和计算量相同。我们另外记录参数量与训练时间，也处理了时限bootstrap和重置时优势不能跨回合递推的边界。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正式主实验是三算法乘三个独立训练种子，每次100万决策。速度置零消融另训练三个PPO模型，总计12次、1200万决策。全都在683乘871的原版环境训练。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张固定验证地图用于选择检查点，之后冻结权重。在100张保留地图上测试原窗口，再测试596.25乘1060桌面画布和390乘844手机画布。它们沿用原版窗口适配，不新增困难机制。主比较统一选择最大Q值或最大概率动作，PPO采样另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每个算法每个场景有三个训练种子各100局。表中加减是三次训练之间的标准差，不能把地图数量当成独立训练次数。测试数据没有用于调参或选模型。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55 秒。</a:t>
            </a:r>
          </a:p>
          <a:p xmlns:a="http://schemas.openxmlformats.org/drawingml/2006/main">
            <a:r>
              <a:t>这张曲线的横轴是训练决策数，纵轴是20张验证地图的原版平均得分，每个点再对三个训练种子取平均。图中每10万决策展示一次，原始文件每5万记录一次。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学习可能波动，最终检查点不一定最好，所以按预先规定的验证标准选权重。每次训练仍完成100万决策，选择较早检查点并不等于少训练。曲线来自验证地图，不是保留测试成绩。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原版分数依赖滚屏时处理的平台数，曲线上涨只能说明奖励对应的计分有所改善，不能单凭这个结论说模型已学会无限攀升。后面同时看高度和失败情况。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原窗口保留测试结果是：DQN 18476 ± 1146, Double DQN 18584 ± 1970, PPO 3945 ± 536。这些是三个训练种子的平均成绩以及种子间标准差。随机动作平均262，物理规则参考平均29766。规则方法读取同样的局部观测，手工计算落点，没有参与神经网络训练。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Double DQN在本次原窗口平均分最高，但不能据此宣称普遍更好。还要看实际上升高度与时限比例。得分可能随着滚屏处理增加，但高度较有限，这说明评价指标与持续攀升之间存在差别。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同一PPO权重改为概率采样，均分为3576 ± 254，属于独立的部署诊断，不替代统一argmax的主算法对照。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窗口测试检查训练后策略对原版缩放规则的适应能力。训练只见过683乘871窗口，桌面和手机测试画布改变物理尺度与初始布局，而原版300阈值仍保持原常量。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所以这里应在同一窗口比较算法，不能把不同窗口的分数变化直接说成统一难度提高或降低。随机地图分布公式、平台类型和生成规则没有换成新机制。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每组仍是三个训练种子各100张保留地图。变化可能来自状态分布、缩放或原版边界行为，图表只报告观察结果，不把它解释成单一原因。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消融使用PPO，把玩家横向和纵向速度、移动平台速度置零。输入仍是209维，网络宽度、训练种子、预算、奖励与验证协议一致，重新训练三个模型。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原窗口完整观测得分3945 ± 536，速度置零得分4052 ± 184，均值差为107。结果并不需要符合预设的故事。三训练种子、局部观测与优化随机性会影响差异，不能直接得出速度特征必然有益或必然有害。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这个实验展示的是观测设计如何影响策略学习。更强的因果结论需要更多种子、误差分析以及配对统计。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接下来展示真实浏览器推理。默认模型为native_v2_dqn_full_h128_seed59_1000000，它只根据验证集选择。左图取20张验证地图中的最高分回合，种子10019，最终得分41949，最高上升约8619。这里是演示案例，不能冒充平均测试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右图来自同一模型的低分死亡回合，种子10000，结束原因为blackhole。游戏没有替模型生成安全路线。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浏览器实时读取209维状态，用导出的实际网络权重控制原版角色。12组新网络各360个观测与PyTorch对齐，动作没有差异。汇报时可播放约25秒GIF，或双击启动后现场选择模型和地图。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四个人按模块分工，每人约四分之一工作量。A负责原版移植与种子接口，重点解释碰撞顺序和逐帧对照。B负责DQN与Double DQN，解释回放、目标网络以及TD差异，完成六次训练。C负责PPO、GAE与速度消融，也有六次训练。D负责保留测试、逐地图统计、浏览器推理、演示与汇报材料。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每人除了本模块，还需复核相邻模块的接口和运行方式。交付保留原版源文件、配置、最佳与最终权重、学习曲线、逐局CSV、PPT与讲稿。成员姓名未提供，个人报告是技术草稿，需要按各自实际工作确认后署名。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45 秒。</a:t>
            </a:r>
          </a:p>
          <a:p xmlns:a="http://schemas.openxmlformats.org/drawingml/2006/main">
            <a:r>
              <a:t>本轮保持两层128，没有增加参数。旧模型和重训模型都在当前窗口、相同100张新地图上测试；本次Double DQN均分最高，为18584。历史训练窗口不同，因此这里只描述整次重训效果，不能归因单一因素。原版分数和高度仍需分开判断，三个训练种子也不能证明算法普遍优劣。后续可以增加种子，独立研究高度奖励或视觉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备用页。CPU实测时间包含验证，三进程并行与系统竞争，不能视作标准硬件速度比较。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对照直接执行未修改的upstream游戏JavaScript，而非另一份自写移植。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游戏代码MIT许可保留，原README中的第三方图片和音效来源一并保留。具体来源与边界见PROVENANCE。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  <a:p xmlns:a="http://schemas.openxmlformats.org/drawingml/2006/main">
            <a:r>
              <a:t>https://arxiv.org/abs/1312.5602</a:t>
            </a:r>
          </a:p>
          <a:p xmlns:a="http://schemas.openxmlformats.org/drawingml/2006/main">
            <a:r>
              <a:t>https://arxiv.org/abs/1509.06461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842087b6b4d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6906fdc6447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2bcc827e545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dcbc33c7f40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afa09cf2240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ca53e9b5c48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6F1669-2D47-4A20-9A6B-BCD1BA7739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C8886C-BF60-434C-AFCB-5E65A37452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A7E2DF-12C2-4E92-B8B2-F6AC4F3F6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D5363-5874-410A-BDE5-B1416593C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20F838-A47D-47FF-9254-B3031B4C13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709A00-BB08-4E00-929A-5D7DB1F4C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33D4DE-9A80-47C0-8ED5-380E841D39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B324F9-A9CC-4064-89B8-E228E6876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919CA4-C230-4F8C-8703-5ABAEB2C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640AC2-D559-4812-89D3-50A770E125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fe253dc7be4c41" /><Relationship Type="http://schemas.openxmlformats.org/officeDocument/2006/relationships/slideLayout" Target="/ppt/slideLayouts/slideLayout1.xml" Id="R50681c0be8fa43aa" /><Relationship Type="http://schemas.openxmlformats.org/officeDocument/2006/relationships/slideLayout" Target="/ppt/slideLayouts/slideLayout2.xml" Id="R0479ab1304934208" /><Relationship Type="http://schemas.openxmlformats.org/officeDocument/2006/relationships/slideLayout" Target="/ppt/slideLayouts/slideLayout3.xml" Id="R6a2db7daa31145df" /><Relationship Type="http://schemas.openxmlformats.org/officeDocument/2006/relationships/slideLayout" Target="/ppt/slideLayouts/slideLayout4.xml" Id="R75faf445fa26456e" /><Relationship Type="http://schemas.openxmlformats.org/officeDocument/2006/relationships/slideLayout" Target="/ppt/slideLayouts/slideLayout5.xml" Id="R452f26ec6ea84c38" /><Relationship Type="http://schemas.openxmlformats.org/officeDocument/2006/relationships/slideLayout" Target="/ppt/slideLayouts/slideLayout6.xml" Id="R0d48190ea59446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681c0be8fa43aa"/>
    <p:sldLayoutId xmlns:r="http://schemas.openxmlformats.org/officeDocument/2006/relationships" id="2147483650" r:id="R0479ab1304934208"/>
    <p:sldLayoutId xmlns:r="http://schemas.openxmlformats.org/officeDocument/2006/relationships" id="2147483651" r:id="R6a2db7daa31145df"/>
    <p:sldLayoutId xmlns:r="http://schemas.openxmlformats.org/officeDocument/2006/relationships" id="2147483652" r:id="R75faf445fa26456e"/>
    <p:sldLayoutId xmlns:r="http://schemas.openxmlformats.org/officeDocument/2006/relationships" id="2147483653" r:id="R452f26ec6ea84c38"/>
    <p:sldLayoutId xmlns:r="http://schemas.openxmlformats.org/officeDocument/2006/relationships" id="2147483654" r:id="R0d48190ea59446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4958c32754efc" /><Relationship Type="http://schemas.openxmlformats.org/officeDocument/2006/relationships/image" Target="/ppt/media/image.png" Id="R16d0e26877494818" /><Relationship Type="http://schemas.openxmlformats.org/officeDocument/2006/relationships/notesSlide" Target="/ppt/notesSlides/notesSlide1.xml" Id="R6d5a1f7580a246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028f99c8e4419" /><Relationship Type="http://schemas.openxmlformats.org/officeDocument/2006/relationships/image" Target="/ppt/media/image2.png" Id="Ra6a231e019a84087" /><Relationship Type="http://schemas.openxmlformats.org/officeDocument/2006/relationships/notesSlide" Target="/ppt/notesSlides/notesSlide2.xml" Id="Rc3c9a03ee1044f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e85740b144058" /><Relationship Type="http://schemas.openxmlformats.org/officeDocument/2006/relationships/notesSlide" Target="/ppt/notesSlides/notesSlide3.xml" Id="R2489b95c657d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d1795ff6b4e40" /><Relationship Type="http://schemas.openxmlformats.org/officeDocument/2006/relationships/notesSlide" Target="/ppt/notesSlides/notesSlide4.xml" Id="R5a023fc9eacd41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920a39d6d4c73" /><Relationship Type="http://schemas.openxmlformats.org/officeDocument/2006/relationships/notesSlide" Target="/ppt/notesSlides/notesSlide5.xml" Id="Rbec2a7bdc45240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e55c3d31046f6" /><Relationship Type="http://schemas.openxmlformats.org/officeDocument/2006/relationships/notesSlide" Target="/ppt/notesSlides/notesSlide6.xml" Id="R1e9882cf194542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c3ce5c86a4a25" /><Relationship Type="http://schemas.openxmlformats.org/officeDocument/2006/relationships/notesSlide" Target="/ppt/notesSlides/notesSlide7.xml" Id="R2d59b31a9daf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f045d470f42eb" /><Relationship Type="http://schemas.openxmlformats.org/officeDocument/2006/relationships/chart" Target="/ppt/slides/charts/chart1.xml" Id="R782cb8dd4ac54695" /><Relationship Type="http://schemas.openxmlformats.org/officeDocument/2006/relationships/notesSlide" Target="/ppt/notesSlides/notesSlide8.xml" Id="Rdc9cd85bdb674f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7dbed6b7145ab" /><Relationship Type="http://schemas.openxmlformats.org/officeDocument/2006/relationships/notesSlide" Target="/ppt/notesSlides/notesSlide9.xml" Id="R1a9fb68f353b45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d8e77401544d3" /><Relationship Type="http://schemas.openxmlformats.org/officeDocument/2006/relationships/chart" Target="/ppt/slides/charts/chart2.xml" Id="R7d5575d05a194b7d" /><Relationship Type="http://schemas.openxmlformats.org/officeDocument/2006/relationships/notesSlide" Target="/ppt/notesSlides/notesSlide10.xml" Id="R9c02c9470d004a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c76b6680e438e" /><Relationship Type="http://schemas.openxmlformats.org/officeDocument/2006/relationships/notesSlide" Target="/ppt/notesSlides/notesSlide11.xml" Id="R4921086b9bd744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668a120074d9c" /><Relationship Type="http://schemas.openxmlformats.org/officeDocument/2006/relationships/image" Target="/ppt/media/image3.png" Id="R6bad017946244020" /><Relationship Type="http://schemas.openxmlformats.org/officeDocument/2006/relationships/image" Target="/ppt/media/image4.png" Id="Ref8e65f347d64877" /><Relationship Type="http://schemas.openxmlformats.org/officeDocument/2006/relationships/notesSlide" Target="/ppt/notesSlides/notesSlide12.xml" Id="R9bd4ee35b7b646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e7ae0987f4ff5" /><Relationship Type="http://schemas.openxmlformats.org/officeDocument/2006/relationships/notesSlide" Target="/ppt/notesSlides/notesSlide13.xml" Id="Rcf4a84de720a45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959727c6f4034" /><Relationship Type="http://schemas.openxmlformats.org/officeDocument/2006/relationships/notesSlide" Target="/ppt/notesSlides/notesSlide14.xml" Id="Rc82c305cbb6445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f547e09be43c7" /><Relationship Type="http://schemas.openxmlformats.org/officeDocument/2006/relationships/notesSlide" Target="/ppt/notesSlides/notesSlide15.xml" Id="R99226e0d24fd41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8da8a67e7d4ed2" /><Relationship Type="http://schemas.openxmlformats.org/officeDocument/2006/relationships/notesSlide" Target="/ppt/notesSlides/notesSlide16.xml" Id="R24d07f7a0f5b4f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f98ebd3014cd5" /><Relationship Type="http://schemas.openxmlformats.org/officeDocument/2006/relationships/notesSlide" Target="/ppt/notesSlides/notesSlide17.xml" Id="R8c4a8806931442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DQN</c:v>
          </c:tx>
          <c:spPr>
            <a:ln xmlns:a="http://schemas.openxmlformats.org/drawingml/2006/main" w="38100">
              <a:solidFill>
                <a:srgbClr val="BC7C30"/>
              </a:solidFill>
              <a:prstDash val="solid"/>
            </a:ln>
          </c:spPr>
          <c:marker>
            <c:symbol val="circle"/>
            <c:size val="6"/>
          </c:marker>
          <c:cat>
            <c:strRef>
              <c:f>'Chart Data'!$A$2:$A$11</c:f>
              <c:strCache>
                <c:ptCount val="10"/>
                <c:pt idx="0">
                  <c:v>10万</c:v>
                </c:pt>
                <c:pt idx="1">
                  <c:v>20万</c:v>
                </c:pt>
                <c:pt idx="2">
                  <c:v>30万</c:v>
                </c:pt>
                <c:pt idx="3">
                  <c:v>40万</c:v>
                </c:pt>
                <c:pt idx="4">
                  <c:v>50万</c:v>
                </c:pt>
                <c:pt idx="5">
                  <c:v>60万</c:v>
                </c:pt>
                <c:pt idx="6">
                  <c:v>70万</c:v>
                </c:pt>
                <c:pt idx="7">
                  <c:v>80万</c:v>
                </c:pt>
                <c:pt idx="8">
                  <c:v>90万</c:v>
                </c:pt>
                <c:pt idx="9">
                  <c:v>100万</c:v>
                </c:pt>
              </c:strCache>
            </c:strRef>
          </c:cat>
          <c:val>
            <c:numRef>
              <c:f>'Chart Data'!$B$2:$B$11</c:f>
              <c:numCache>
                <c:formatCode>0</c:formatCode>
                <c:ptCount val="10"/>
                <c:pt idx="0">
                  <c:v>469.183</c:v>
                </c:pt>
                <c:pt idx="1">
                  <c:v>4194.367</c:v>
                </c:pt>
                <c:pt idx="2">
                  <c:v>7080.417</c:v>
                </c:pt>
                <c:pt idx="3">
                  <c:v>13581.583</c:v>
                </c:pt>
                <c:pt idx="4">
                  <c:v>19091.767</c:v>
                </c:pt>
                <c:pt idx="5">
                  <c:v>18391.617</c:v>
                </c:pt>
                <c:pt idx="6">
                  <c:v>16314.017</c:v>
                </c:pt>
                <c:pt idx="7">
                  <c:v>12993.533</c:v>
                </c:pt>
                <c:pt idx="8">
                  <c:v>16851.967</c:v>
                </c:pt>
                <c:pt idx="9">
                  <c:v>19179.983</c:v>
                </c:pt>
              </c:numCache>
            </c:numRef>
          </c:val>
          <c:smooth val="0"/>
        </c:ser>
        <c:ser>
          <c:idx val="1"/>
          <c:order val="1"/>
          <c:tx>
            <c:v>Double DQN</c:v>
          </c:tx>
          <c:spPr>
            <a:ln xmlns:a="http://schemas.openxmlformats.org/drawingml/2006/main" w="38100">
              <a:solidFill>
                <a:srgbClr val="346F9D"/>
              </a:solidFill>
              <a:prstDash val="solid"/>
            </a:ln>
          </c:spPr>
          <c:marker>
            <c:symbol val="circle"/>
            <c:size val="6"/>
          </c:marker>
          <c:cat>
            <c:strRef>
              <c:f>'Chart Data'!$C$2:$C$11</c:f>
              <c:strCache>
                <c:ptCount val="10"/>
                <c:pt idx="0">
                  <c:v>10万</c:v>
                </c:pt>
                <c:pt idx="1">
                  <c:v>20万</c:v>
                </c:pt>
                <c:pt idx="2">
                  <c:v>30万</c:v>
                </c:pt>
                <c:pt idx="3">
                  <c:v>40万</c:v>
                </c:pt>
                <c:pt idx="4">
                  <c:v>50万</c:v>
                </c:pt>
                <c:pt idx="5">
                  <c:v>60万</c:v>
                </c:pt>
                <c:pt idx="6">
                  <c:v>70万</c:v>
                </c:pt>
                <c:pt idx="7">
                  <c:v>80万</c:v>
                </c:pt>
                <c:pt idx="8">
                  <c:v>90万</c:v>
                </c:pt>
                <c:pt idx="9">
                  <c:v>100万</c:v>
                </c:pt>
              </c:strCache>
            </c:strRef>
          </c:cat>
          <c:val>
            <c:numRef>
              <c:f>'Chart Data'!$D$2:$D$11</c:f>
              <c:numCache>
                <c:formatCode>0</c:formatCode>
                <c:ptCount val="10"/>
                <c:pt idx="0">
                  <c:v>743.233</c:v>
                </c:pt>
                <c:pt idx="1">
                  <c:v>2979.233</c:v>
                </c:pt>
                <c:pt idx="2">
                  <c:v>5774.05</c:v>
                </c:pt>
                <c:pt idx="3">
                  <c:v>9099.833</c:v>
                </c:pt>
                <c:pt idx="4">
                  <c:v>13879.867</c:v>
                </c:pt>
                <c:pt idx="5">
                  <c:v>16363.017</c:v>
                </c:pt>
                <c:pt idx="6">
                  <c:v>14989.95</c:v>
                </c:pt>
                <c:pt idx="7">
                  <c:v>13735.283</c:v>
                </c:pt>
                <c:pt idx="8">
                  <c:v>14081.767</c:v>
                </c:pt>
                <c:pt idx="9">
                  <c:v>13495.4</c:v>
                </c:pt>
              </c:numCache>
            </c:numRef>
          </c:val>
          <c:smooth val="0"/>
        </c:ser>
        <c:ser>
          <c:idx val="2"/>
          <c:order val="2"/>
          <c:tx>
            <c:v>PPO</c:v>
          </c:tx>
          <c:spPr>
            <a:ln xmlns:a="http://schemas.openxmlformats.org/drawingml/2006/main" w="38100">
              <a:solidFill>
                <a:srgbClr val="39744A"/>
              </a:solidFill>
              <a:prstDash val="solid"/>
            </a:ln>
          </c:spPr>
          <c:marker>
            <c:symbol val="circle"/>
            <c:size val="6"/>
          </c:marker>
          <c:cat>
            <c:strRef>
              <c:f>'Chart Data'!$E$2:$E$11</c:f>
              <c:strCache>
                <c:ptCount val="10"/>
                <c:pt idx="0">
                  <c:v>10万</c:v>
                </c:pt>
                <c:pt idx="1">
                  <c:v>20万</c:v>
                </c:pt>
                <c:pt idx="2">
                  <c:v>30万</c:v>
                </c:pt>
                <c:pt idx="3">
                  <c:v>40万</c:v>
                </c:pt>
                <c:pt idx="4">
                  <c:v>50万</c:v>
                </c:pt>
                <c:pt idx="5">
                  <c:v>60万</c:v>
                </c:pt>
                <c:pt idx="6">
                  <c:v>70万</c:v>
                </c:pt>
                <c:pt idx="7">
                  <c:v>80万</c:v>
                </c:pt>
                <c:pt idx="8">
                  <c:v>90万</c:v>
                </c:pt>
                <c:pt idx="9">
                  <c:v>100万</c:v>
                </c:pt>
              </c:strCache>
            </c:strRef>
          </c:cat>
          <c:val>
            <c:numRef>
              <c:f>'Chart Data'!$F$2:$F$11</c:f>
              <c:numCache>
                <c:formatCode>0</c:formatCode>
                <c:ptCount val="10"/>
                <c:pt idx="0">
                  <c:v>269.283</c:v>
                </c:pt>
                <c:pt idx="1">
                  <c:v>458.767</c:v>
                </c:pt>
                <c:pt idx="2">
                  <c:v>982.2</c:v>
                </c:pt>
                <c:pt idx="3">
                  <c:v>2271.133</c:v>
                </c:pt>
                <c:pt idx="4">
                  <c:v>3241.8</c:v>
                </c:pt>
                <c:pt idx="5">
                  <c:v>3009.7</c:v>
                </c:pt>
                <c:pt idx="6">
                  <c:v>3073.933</c:v>
                </c:pt>
                <c:pt idx="7">
                  <c:v>2978.383</c:v>
                </c:pt>
                <c:pt idx="8">
                  <c:v>2757.033</c:v>
                </c:pt>
                <c:pt idx="9">
                  <c:v>3299.667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22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9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DQN</c:v>
          </c:tx>
          <c:spPr>
            <a:solidFill xmlns:a="http://schemas.openxmlformats.org/drawingml/2006/main">
              <a:srgbClr val="BC7C30"/>
            </a:solidFill>
          </c:spPr>
          <c:cat>
            <c:strRef>
              <c:f>'Chart Data'!$A$2:$A$4</c:f>
              <c:strCache>
                <c:ptCount val="3"/>
                <c:pt idx="0">
                  <c:v>训练窗口683×871</c:v>
                </c:pt>
                <c:pt idx="1">
                  <c:v>桌面596.25×1060</c:v>
                </c:pt>
                <c:pt idx="2">
                  <c:v>手机390×844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18476.5</c:v>
                </c:pt>
                <c:pt idx="1">
                  <c:v>19202.97</c:v>
                </c:pt>
                <c:pt idx="2">
                  <c:v>14150.887</c:v>
                </c:pt>
              </c:numCache>
            </c:numRef>
          </c:val>
        </c:ser>
        <c:ser>
          <c:idx val="1"/>
          <c:order val="1"/>
          <c:tx>
            <c:v>Double DQN</c:v>
          </c:tx>
          <c:spPr>
            <a:solidFill xmlns:a="http://schemas.openxmlformats.org/drawingml/2006/main">
              <a:srgbClr val="346F9D"/>
            </a:solidFill>
          </c:spPr>
          <c:cat>
            <c:strRef>
              <c:f>'Chart Data'!$C$2:$C$4</c:f>
              <c:strCache>
                <c:ptCount val="3"/>
                <c:pt idx="0">
                  <c:v>训练窗口683×871</c:v>
                </c:pt>
                <c:pt idx="1">
                  <c:v>桌面596.25×1060</c:v>
                </c:pt>
                <c:pt idx="2">
                  <c:v>手机390×844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18584.153</c:v>
                </c:pt>
                <c:pt idx="1">
                  <c:v>16636.5</c:v>
                </c:pt>
                <c:pt idx="2">
                  <c:v>14735.09</c:v>
                </c:pt>
              </c:numCache>
            </c:numRef>
          </c:val>
        </c:ser>
        <c:ser>
          <c:idx val="2"/>
          <c:order val="2"/>
          <c:tx>
            <c:v>PPO</c:v>
          </c:tx>
          <c:spPr>
            <a:solidFill xmlns:a="http://schemas.openxmlformats.org/drawingml/2006/main">
              <a:srgbClr val="39744A"/>
            </a:solidFill>
          </c:spPr>
          <c:cat>
            <c:strRef>
              <c:f>'Chart Data'!$E$2:$E$4</c:f>
              <c:strCache>
                <c:ptCount val="3"/>
                <c:pt idx="0">
                  <c:v>训练窗口683×871</c:v>
                </c:pt>
                <c:pt idx="1">
                  <c:v>桌面596.25×1060</c:v>
                </c:pt>
                <c:pt idx="2">
                  <c:v>手机390×844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3944.787</c:v>
                </c:pt>
                <c:pt idx="1">
                  <c:v>3021.667</c:v>
                </c:pt>
                <c:pt idx="2">
                  <c:v>3726.083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6322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22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9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36871-F5D7-4FF5-B9E9-7CD96550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Doodle Jump 原版规则强化学习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9BC7E-6B64-42BB-91C4-A4F1291D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8BE3D-9DCD-492B-893D-1344D62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90A6A-8F72-4EE2-A1AB-4BB5B817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DQN / Double DQN / PPO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4E7D5-4C0A-42FE-968D-66AEBAC2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7810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保留原画面、物理与平台随机生成</a:t>
            </a:r>
          </a:p>
          <a:p xmlns:a="http://schemas.openxmlformats.org/drawingml/2006/main">
            <a:pPr>
              <a:def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从头训练并测试学习效果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F7306-BAA9-486E-84FB-597D13D4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7429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四人小组 A–D（姓名待填写）</a:t>
            </a:r>
          </a:p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26秋研究生强化学习课程</a:t>
            </a:r>
          </a:p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主讲14页，约13分钟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3AB94-394E-414F-B4AB-49A78621D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0e26877494818"/>
          <a:stretch xmlns:a="http://schemas.openxmlformats.org/drawingml/2006/main"/>
        </p:blipFill>
        <p:spPr>
          <a:xfrm xmlns:a="http://schemas.openxmlformats.org/drawingml/2006/main">
            <a:off x="8858250" y="2356842"/>
            <a:ext cx="2238375" cy="21824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19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3B1A0-CF49-41D8-879C-AB558B8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自动跳跃需要持续预测落点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4EA9A-0FDF-4432-8C15-06FDF90E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EAE69-EB17-49C3-A08F-14482A1A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AD425-7103-4D60-99FF-F3CB090E4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231e019a84087"/>
          <a:stretch xmlns:a="http://schemas.openxmlformats.org/drawingml/2006/main"/>
        </p:blipFill>
        <p:spPr>
          <a:xfrm xmlns:a="http://schemas.openxmlformats.org/drawingml/2006/main">
            <a:off x="609600" y="1514461"/>
            <a:ext cx="3476625" cy="4438678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7F8D1-E624-4BFA-A33E-E9C97FB6AA5D}"/>
              </a:ext>
            </a:extLst>
          </p:cNvPr>
          <p:cNvGraphicFramePr/>
          <p:nvPr/>
        </p:nvGraphicFramePr>
        <p:xfrm>
          <a:off xmlns:a="http://schemas.openxmlformats.org/drawingml/2006/main" x="4495800" y="1647825"/>
          <a:ext xmlns:a="http://schemas.openxmlformats.org/drawingml/2006/main" cx="7038975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38725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原版机制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控制难点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移动平台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预测下降时的横向位置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易碎平台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落地后不能重复借力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更长飞行时间和更远落点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黑洞与绕屏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比较两侧移动并规避危险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578D6-8243-490F-AD0A-EE6D2D80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38800"/>
            <a:ext cx="6991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每4个物理帧观察一次，选择左 / 不动 / 右</a:t>
            </a:r>
          </a:p>
        </p:txBody>
      </p:sp>
    </p:spTree>
    <p:extLst>
      <p:ext uri="{BB962C8B-B14F-4D97-AF65-F5344CB8AC3E}">
        <p14:creationId xmlns:p14="http://schemas.microsoft.com/office/powerpoint/2010/main" val="246416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B85CF-D250-4E9E-8A7A-0B1F94A9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原版文件与游戏规则保持不变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1D558-74D1-403A-AE28-994151B7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4EDC1-C256-4A52-81DA-488F1D28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C78F2-40F6-4200-A9D4-7024F3E6059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537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382000"/>
              </a:tblGrid>
              <a:tr h="612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保留的实际行为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外观与声音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原角色图片、平台绘制、网格、音效和署名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物理与顺序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直接横向速度、不同升降重力、先碰撞再移动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平台生成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全宽随机、原类型抽样、易碎旁补普通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原版特殊行为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顶部出生、300阈值、弹簧碰撞尺寸、数组刷新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新增训练接口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reset(seed)、step(action)、观测、奖励、时限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18425-CE2A-4784-A455-99A47980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原版得分按滚屏时处理的平台数累计，得分并非像素高度</a:t>
            </a:r>
          </a:p>
        </p:txBody>
      </p:sp>
    </p:spTree>
    <p:extLst>
      <p:ext uri="{BB962C8B-B14F-4D97-AF65-F5344CB8AC3E}">
        <p14:creationId xmlns:p14="http://schemas.microsoft.com/office/powerpoint/2010/main" val="260929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3737B-26C7-4DDE-A8C4-0D1BDCD8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209维观测与三动作策略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522D-5F5C-4D7C-8D81-F0F27B38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BE995-0602-452B-BC56-41EE9670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C0469-4FD8-4517-966C-75ED8726EE68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5375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143125"/>
                <a:gridCol w="6524625"/>
              </a:tblGrid>
              <a:tr h="6548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维数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位置、速度和最高高度差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可见平台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20×10=200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相对位置、宽度、速度、类型、弹簧、掩码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原版单黑洞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相对位置、半径和掩码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57CBC-5EDB-48FE-8584-B866B5EE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209 → 128 → 128 → 左 / 不动 / 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CFEAB-6DB0-4B60-8975-5936A2B5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r = Δ原版得分 / 100 − 0.001 − 1×死亡</a:t>
            </a:r>
          </a:p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1500决策为时间截断，跌落或黑洞为真实终止</a:t>
            </a:r>
          </a:p>
        </p:txBody>
      </p:sp>
    </p:spTree>
    <p:extLst>
      <p:ext uri="{BB962C8B-B14F-4D97-AF65-F5344CB8AC3E}">
        <p14:creationId xmlns:p14="http://schemas.microsoft.com/office/powerpoint/2010/main" val="1920441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BA48F-45F5-4DA5-9D40-6E5E2657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DQN与Double DQN只改变TD目标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C0D8F-5F87-4F36-8A72-264F6328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7FA36-B188-40A3-B4A1-B9D6DCAC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BA070-380D-46DF-8A45-41666A36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71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rPr>
              <a:t>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E69A4-B9C7-466E-8D7A-29698C2D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y = r + γ maxₐ Qtarget(s′, 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3A14E-78F0-42D7-B4FA-FEEF378E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666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Double DQN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A6461-24F5-4177-A016-2D8BACE9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a* = argmaxₐ Qonline(s′, a)</a:t>
            </a:r>
          </a:p>
          <a:p xmlns:a="http://schemas.openxmlformats.org/drawingml/2006/main">
            <a:pPr>
              <a:def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y = r + γ Qtarget(s′, a*)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DE084-12F3-44AB-8807-52EA0DD6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真实终止屏蔽bootstrap，时间截断保留下一状态价值</a:t>
            </a:r>
          </a:p>
        </p:txBody>
      </p:sp>
    </p:spTree>
    <p:extLst>
      <p:ext uri="{BB962C8B-B14F-4D97-AF65-F5344CB8AC3E}">
        <p14:creationId xmlns:p14="http://schemas.microsoft.com/office/powerpoint/2010/main" val="1925944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26B9B-3581-4847-BFA1-4758F197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PPO用动作概率与优势更新策略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7FB74-50F2-4301-8B7A-B8E34FF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08E4E-D863-4EA5-B385-96230BA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02675-8824-4835-BB27-32D54AED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ρₜ = πθ(aₜ | sₜ) / πold(aₜ | sₜ)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0FF3B-BF21-4BFA-B483-C010D10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Lclip = E[min(ρₜAₜ, clip(ρₜ, 0.8, 1.2)Aₜ)]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3BF21-2EBC-445B-9190-C361B06B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53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δₜ = rₜ + γV(sₜ₊₁) − V(sₜ)</a:t>
            </a:r>
          </a:p>
          <a:p xmlns:a="http://schemas.openxmlformats.org/drawingml/2006/main">
            <a:pPr>
              <a:def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GAE(γ=0.99, λ=0.95)估计动作优势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0B011-2F0B-4575-BF29-9CC51D6A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53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PPO使用当前策略采样，DQN反复使用长期回放</a:t>
            </a:r>
          </a:p>
          <a:p xmlns:a="http://schemas.openxmlformats.org/drawingml/2006/main">
            <a:pPr>
              <a:def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重置时停止优势递推，时限仍bootstrap</a:t>
            </a:r>
          </a:p>
        </p:txBody>
      </p:sp>
    </p:spTree>
    <p:extLst>
      <p:ext uri="{BB962C8B-B14F-4D97-AF65-F5344CB8AC3E}">
        <p14:creationId xmlns:p14="http://schemas.microsoft.com/office/powerpoint/2010/main" val="1345592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C3E80-10E6-4BF6-9AEC-9C0B1EDA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每次100万决策，三个独立训练种子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B0FD2-2864-450F-9ED7-0E75EDE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F7AF2-9EFE-4C46-A81B-BD9CC3C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D814D-5D12-49EF-B119-5FC68F12CCDE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537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29125"/>
                <a:gridCol w="404812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数据划分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种子或窗口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42、59、143；地图≥1000000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683×871当前原版窗口更新策略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10000–10019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选检查点，记录学习曲线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原窗口测试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61000–61099；683×871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同分布新地图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窗口适应测试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62000–62099；596.25×1060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沿用原窗口缩放规则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窗口适应测试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63000–63099；390×844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沿用原窗口缩放规则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CF7A0-ECC8-4889-8FC1-7E702191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12次训练共1200万决策，主比较统一argmax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EA1ED-8EC7-45D5-BB31-3B7B785D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±为3个训练种子之间的SD，地图数量不能当作训练种子数</a:t>
            </a:r>
          </a:p>
        </p:txBody>
      </p:sp>
    </p:spTree>
    <p:extLst>
      <p:ext uri="{BB962C8B-B14F-4D97-AF65-F5344CB8AC3E}">
        <p14:creationId xmlns:p14="http://schemas.microsoft.com/office/powerpoint/2010/main" val="773600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95120-40C9-4373-9974-C77AE1A6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验证得分的学习曲线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B838E-7B35-4B1D-A4AC-3548BF3E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BE3E7-246E-4460-9C4E-2F18306A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7C80CD7-81A2-46B6-AA80-FE2DEBF3FED2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5375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2cb8dd4ac5469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7FBF0-205C-48C9-A12E-E272113F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纵轴：20张验证图的原版平均得分，再对3种子取均值</a:t>
            </a:r>
          </a:p>
        </p:txBody>
      </p:sp>
    </p:spTree>
    <p:extLst>
      <p:ext uri="{BB962C8B-B14F-4D97-AF65-F5344CB8AC3E}">
        <p14:creationId xmlns:p14="http://schemas.microsoft.com/office/powerpoint/2010/main" val="2082400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C640-2EFC-4889-A8AF-2BDE25E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当前窗口保留地图测试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AB269-F7C5-4CA4-BF47-D6C9923B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FDB5B-7DF3-41D9-8AC5-ED520484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897A7-15CA-424C-B208-B60497656277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286375"/>
                <a:gridCol w="2952750"/>
              </a:tblGrid>
              <a:tr h="587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原版得分（均值 ± SD）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实际上升高度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随机动作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物理规则参考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29766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6094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18476 ± 1146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3738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DQN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18584 ± 1970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3744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3945 ± 536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30538-9F36-4590-9736-D8CD9124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每个学习策略3种子×100图，所有策略使用相同测试图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A9251-0932-4BC1-832E-A72467F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PPO概率采样另测：得分3576 ± 254，高度615。规则参考没有训练。</a:t>
            </a:r>
          </a:p>
        </p:txBody>
      </p:sp>
    </p:spTree>
    <p:extLst>
      <p:ext uri="{BB962C8B-B14F-4D97-AF65-F5344CB8AC3E}">
        <p14:creationId xmlns:p14="http://schemas.microsoft.com/office/powerpoint/2010/main" val="1855806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A12F3-ECD1-4B16-B9BC-DC859B69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窗口适应能力仍有明显差异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6CB74-65E0-44F1-9E5A-2EC30C5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0FD2D-8781-4E0D-A17F-462C1E2F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79F24FB-FEB0-4026-9428-EBD30D21C29C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5575d05a194b7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458B4-2002-4CA1-A128-CEB58D2D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纵轴为原版得分。窗口改变尺度与初始布局，应在同窗口比较算法</a:t>
            </a:r>
          </a:p>
        </p:txBody>
      </p:sp>
    </p:spTree>
    <p:extLst>
      <p:ext uri="{BB962C8B-B14F-4D97-AF65-F5344CB8AC3E}">
        <p14:creationId xmlns:p14="http://schemas.microsoft.com/office/powerpoint/2010/main" val="798466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C04EB-2DA1-4529-AD8C-A90FE139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PPO速度置零消融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12825-B452-46AB-B720-CE780DE9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C831-CD0E-42F1-9858-FCDF76E8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CAAEA-9D4D-4916-B602-F8E4CDAEC033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571750"/>
                <a:gridCol w="2571750"/>
                <a:gridCol w="25717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观测设置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当前窗口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桌面窗口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手机窗口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完整观测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3945 ± 536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3022 ± 284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3726 ± 189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速度置零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4052 ± 184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2683 ± 352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3519 ± 444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6718D-0F6E-4CD0-9E80-4AC3F3A9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速度置零的原窗口平均得分增加107。</a:t>
            </a:r>
          </a:p>
          <a:p xmlns:a="http://schemas.openxmlformats.org/drawingml/2006/main">
            <a:pPr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三种子结果不足以证明速度信息普遍有益或有害。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D4557-36F7-4745-A39E-4D6B5621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维数209、网络和预算不变，玩家与平台速度置零后重新训练</a:t>
            </a:r>
          </a:p>
        </p:txBody>
      </p:sp>
    </p:spTree>
    <p:extLst>
      <p:ext uri="{BB962C8B-B14F-4D97-AF65-F5344CB8AC3E}">
        <p14:creationId xmlns:p14="http://schemas.microsoft.com/office/powerpoint/2010/main" val="8133818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0D1E9-0396-4C07-97E4-04DA44CC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真实推理画面与失败回合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AD0F3-07C8-41E7-A15E-81FF226A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B310B-E280-49AE-A180-4DB26791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29184-D198-4D58-BD31-18D2F0DF6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d017946244020"/>
          <a:stretch xmlns:a="http://schemas.openxmlformats.org/drawingml/2006/main"/>
        </p:blipFill>
        <p:spPr>
          <a:xfrm xmlns:a="http://schemas.openxmlformats.org/drawingml/2006/main">
            <a:off x="609600" y="1762439"/>
            <a:ext cx="3095625" cy="395224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24CEB-E928-48D4-95B9-FACC3C5C1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e65f347d64877"/>
          <a:stretch xmlns:a="http://schemas.openxmlformats.org/drawingml/2006/main"/>
        </p:blipFill>
        <p:spPr>
          <a:xfrm xmlns:a="http://schemas.openxmlformats.org/drawingml/2006/main">
            <a:off x="4086225" y="1762439"/>
            <a:ext cx="3095625" cy="39522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3A120-7ACF-4149-88CE-3882B42B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933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验证集展示回合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2A9BE-B963-4871-8255-C48758E7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39338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模型只按验证成绩选择。</a:t>
            </a:r>
          </a:p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种子10019，最终分41949</a:t>
            </a:r>
          </a:p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最高上升高度8619</a:t>
            </a:r>
          </a:p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展示局不能代替平均成绩。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0A351-E7B6-4FE0-80A2-908072D7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933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失败边界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6470E-7945-4E29-89D0-0E51DC13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14925"/>
            <a:ext cx="3933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种子10000，最终分1565</a:t>
            </a:r>
          </a:p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黑洞死亡，上升127</a:t>
            </a:r>
          </a:p>
        </p:txBody>
      </p:sp>
    </p:spTree>
    <p:extLst>
      <p:ext uri="{BB962C8B-B14F-4D97-AF65-F5344CB8AC3E}">
        <p14:creationId xmlns:p14="http://schemas.microsoft.com/office/powerpoint/2010/main" val="17858887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D32EA-D2D0-435F-AC84-2D1DD254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四人工作量与模块验收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46A5A-41FD-49DA-8A5B-0A8A099C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73AEE-407C-4635-9CC3-9DF8B8A0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FFF31-AD98-4705-B123-B1D856B7906F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5375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4953000"/>
                <a:gridCol w="4667250"/>
              </a:tblGrid>
              <a:tr h="6743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负责工作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验收证据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原版移植、训练接口、种子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原文件哈希与逐帧原版对照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/ Double DQN实现与训练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TD目标单测、6次训练日志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/ GAE与速度消融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边界单测、6次训练日志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保留测试、浏览器推理、汇报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逐地图CSV、模型对齐、PPT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36F8D-A4EA-4C45-A383-84374CF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交付代码、原版素材、12组权重、逐局结果、报告与讲稿</a:t>
            </a:r>
          </a:p>
        </p:txBody>
      </p:sp>
    </p:spTree>
    <p:extLst>
      <p:ext uri="{BB962C8B-B14F-4D97-AF65-F5344CB8AC3E}">
        <p14:creationId xmlns:p14="http://schemas.microsoft.com/office/powerpoint/2010/main" val="5850344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48E9D-09CD-4D7B-9639-008BDB3A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同参数重训的实测结果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F36F9-C522-4891-9F0F-C32F8303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04B25-DEBF-45CF-ABB7-D85AA66B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C599D-4506-4439-847D-2BD9173E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Double DQN原窗口均分最高：18584 ± 1970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582F4-9A6F-4916-8B38-91C925631BBC}"/>
              </a:ext>
            </a:extLst>
          </p:cNvPr>
          <p:cNvGraphicFramePr/>
          <p:nvPr/>
        </p:nvGraphicFramePr>
        <p:xfrm>
          <a:off xmlns:a="http://schemas.openxmlformats.org/drawingml/2006/main" x="609600" y="3048000"/>
          <a:ext xmlns:a="http://schemas.openxmlformats.org/drawingml/2006/main" cx="10953750" cy="2009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81500"/>
                <a:gridCol w="4381500"/>
              </a:tblGrid>
              <a:tr h="5024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旧模型：当前窗口均分 ± SD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重训模型：当前窗口均分 ± SD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5024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2511 ± 544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18476 ± 1146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24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DQN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2988 ± 1280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18584 ± 1970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24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2434 ± 498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3945 ± 536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A5620-39B0-49A8-A527-6FD8D1A4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同一100张新测试地图，参数量不变；历史与当前训练窗口不同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73C10-0F30-4DCC-A1AE-1DB03C5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原版得分和上升高度分开报告，3种子结果仅反映本次实验</a:t>
            </a:r>
          </a:p>
        </p:txBody>
      </p:sp>
    </p:spTree>
    <p:extLst>
      <p:ext uri="{BB962C8B-B14F-4D97-AF65-F5344CB8AC3E}">
        <p14:creationId xmlns:p14="http://schemas.microsoft.com/office/powerpoint/2010/main" val="2110542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87EB7-F5CC-42D9-9B04-867D2B74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附录：超参数与实际训练记录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91803-5272-45E3-BA2A-23BB267A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235D8-1688-46C1-976F-38B44FBB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BCFD2-FDE7-4B62-B28A-2C0625864A0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5375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05250"/>
                <a:gridCol w="3905250"/>
              </a:tblGrid>
              <a:tr h="50125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/ Double DQN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观测与隐藏层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 / 128 / 128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 / 128 / 128，共享骨干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43,779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43,908（含价值头）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学习率 / γ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0.0005 / 0.99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0.0003 / 0.99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数据与更新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回放100k，batch128，每4决策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8环境×128步，4轮，batch256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/ 优势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目标网络每2000决策同步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λ0.95，clip0.2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ε 1→0.05，60万决策退火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熵系数0.01，策略概率采样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 / 选点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100万，5万一次验证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100万，约5万一次验证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D7225-B92A-435F-A4D4-5A8A5426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CPU单线程/进程，实测分钟：dqn 11.9–16.9，double_dqn 10.3–18.0，ppo 5.0–8.0</a:t>
            </a:r>
          </a:p>
        </p:txBody>
      </p:sp>
    </p:spTree>
    <p:extLst>
      <p:ext uri="{BB962C8B-B14F-4D97-AF65-F5344CB8AC3E}">
        <p14:creationId xmlns:p14="http://schemas.microsoft.com/office/powerpoint/2010/main" val="13724214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EECEF-181C-4DA0-8ED1-579AD1F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附录：原版对照与部署验证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29C77-A0FD-4672-858E-632258AC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A8CFB-8A08-436F-B8A4-0F5127A4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9A99E-8CC4-4292-9CEB-B70AC576E2DF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96250"/>
              </a:tblGrid>
              <a:tr h="6175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本次检查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原文件完整性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21个文件SHA256全部匹配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物理逐帧对照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原JS数值81803帧；当前真实浏览器4202帧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特殊规则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7案例：弹簧、易碎、边界、黑洞、跌落、绕屏、刷新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算法与部署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5项算法单测，12个新模型×360观测，动作一致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浏览器与运行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原图加载、手动控制、暂停、重开、一键启动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E51F2-B5FB-4230-B024-6D28917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所有原版特殊行为继续保留，修复需新环境版本并重新训练</a:t>
            </a:r>
          </a:p>
        </p:txBody>
      </p:sp>
    </p:spTree>
    <p:extLst>
      <p:ext uri="{BB962C8B-B14F-4D97-AF65-F5344CB8AC3E}">
        <p14:creationId xmlns:p14="http://schemas.microsoft.com/office/powerpoint/2010/main" val="11145064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88B7F-2391-4C54-93F1-173CA9F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附录：来源与运行入口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E4A01-56B4-4CB7-8951-45187CC6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F3059-05D1-470E-892E-D15F5A5C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37D28-80E4-491F-8B49-1045647C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游戏：takosenpai2687/doodle-jump</a:t>
            </a:r>
          </a:p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固定提交：d4b6071813a9c1353267d53dcfa9d8abc3e5b2f4</a:t>
            </a:r>
          </a:p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算法：DQN (2013)、Double DQN (2015)</a:t>
            </a:r>
          </a:p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PPO (2017)、GAE (2015)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F650E-6ADF-4832-AD36-6549C4E0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5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试玩：双击 start_game.cmd（需要Python 3）</a:t>
            </a:r>
          </a:p>
          <a:p xmlns:a="http://schemas.openxmlformats.org/drawingml/2006/main">
            <a: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复现：README.md / train.py / evaluate.py</a:t>
            </a:r>
          </a:p>
          <a:p xmlns:a="http://schemas.openxmlformats.org/drawingml/2006/main">
            <a: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核查：PROVENANCE.md / tests/ / results/</a:t>
            </a:r>
          </a:p>
        </p:txBody>
      </p:sp>
    </p:spTree>
    <p:extLst>
      <p:ext uri="{BB962C8B-B14F-4D97-AF65-F5344CB8AC3E}">
        <p14:creationId xmlns:p14="http://schemas.microsoft.com/office/powerpoint/2010/main" val="2087169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2026-10-08T11:19:27.3510000Z</dcterms:created>
  <dcterms:modified xsi:type="dcterms:W3CDTF">2026-10-08T11:19:27.3510000Z</dcterms:modified>
</coreProperties>
</file>